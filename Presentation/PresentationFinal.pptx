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26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.xml" ContentType="application/vnd.openxmlformats-officedocument.presentationml.notesSlide+xml"/>
  <Override PartName="/ppt/slides/slide26.xml" ContentType="application/vnd.openxmlformats-officedocument.presentationml.slide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21.xml" ContentType="application/vnd.openxmlformats-officedocument.presentationml.notesSlide+xml"/>
  <Override PartName="/ppt/notesSlides/notesSlide14.xml" ContentType="application/vnd.openxmlformats-officedocument.presentationml.notes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Layouts/slideLayout9.xml" ContentType="application/vnd.openxmlformats-officedocument.presentationml.slideLayout+xml"/>
  <Override PartName="/ppt/slides/slide13.xml" ContentType="application/vnd.openxmlformats-officedocument.presentationml.slide+xml"/>
  <Override PartName="/ppt/theme/theme2.xml" ContentType="application/vnd.openxmlformats-officedocument.theme+xml"/>
  <Override PartName="/ppt/theme/theme1.xml" ContentType="application/vnd.openxmlformats-officedocument.theme+xml"/>
  <Override PartName="/ppt/slides/slide3.xml" ContentType="application/vnd.openxmlformats-officedocument.presentationml.slide+xml"/>
  <Override PartName="/ppt/notesSlides/notesSlide22.xml" ContentType="application/vnd.openxmlformats-officedocument.presentationml.notesSlide+xml"/>
  <Override PartName="/ppt/slideLayouts/slideLayout4.xml" ContentType="application/vnd.openxmlformats-officedocument.presentationml.slideLayout+xml"/>
  <Override PartName="/ppt/notesSlides/notesSlide20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21.xml" ContentType="application/vnd.openxmlformats-officedocument.presentationml.slide+xml"/>
  <Override PartName="/ppt/slideLayouts/slideLayout1.xml" ContentType="application/vnd.openxmlformats-officedocument.presentationml.slideLayout+xml"/>
  <Override PartName="/ppt/slides/slide12.xml" ContentType="application/vnd.openxmlformats-officedocument.presentationml.slide+xml"/>
  <Override PartName="/ppt/slideLayouts/slideLayout5.xml" ContentType="application/vnd.openxmlformats-officedocument.presentationml.slideLayout+xml"/>
  <Override PartName="/ppt/slides/slide7.xml" ContentType="application/vnd.openxmlformats-officedocument.presentationml.slide+xml"/>
  <Override PartName="/ppt/notesSlides/notesSlide4.xml" ContentType="application/vnd.openxmlformats-officedocument.presentationml.notesSlide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ppt/slides/slide17.xml" ContentType="application/vnd.openxmlformats-officedocument.presentationml.slide+xml"/>
  <Override PartName="/ppt/viewProps.xml" ContentType="application/vnd.openxmlformats-officedocument.presentationml.viewProps+xml"/>
  <Override PartName="/ppt/notesSlides/notesSlide7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8.xml" ContentType="application/vnd.openxmlformats-officedocument.presentationml.slide+xml"/>
  <Override PartName="/ppt/slideLayouts/slideLayout2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8.xml" ContentType="application/vnd.openxmlformats-officedocument.presentationml.slideLayout+xml"/>
  <Override PartName="/docProps/core.xml" ContentType="application/vnd.openxmlformats-package.core-properties+xml"/>
  <Override PartName="/ppt/slideLayouts/slideLayout6.xml" ContentType="application/vnd.openxmlformats-officedocument.presentationml.slideLayout+xml"/>
  <Override PartName="/ppt/notesSlides/notesSlide11.xml" ContentType="application/vnd.openxmlformats-officedocument.presentationml.notesSlide+xml"/>
  <Override PartName="/ppt/slides/slide10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9.xml" ContentType="application/vnd.openxmlformats-officedocument.presentationml.slide+xml"/>
  <Override PartName="/ppt/slides/slide20.xml" ContentType="application/vnd.openxmlformats-officedocument.presentationml.slide+xml"/>
  <Override PartName="/ppt/slides/slide11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4.xml" ContentType="application/vnd.openxmlformats-officedocument.presentationml.slide+xml"/>
  <Override PartName="/ppt/slideLayouts/slideLayout7.xml" ContentType="application/vnd.openxmlformats-officedocument.presentationml.slideLayout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8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22.xml" ContentType="application/vnd.openxmlformats-officedocument.presentationml.slide+xml"/>
  <Override PartName="/ppt/slides/slide19.xml" ContentType="application/vnd.openxmlformats-officedocument.presentationml.slide+xml"/>
  <Override PartName="/ppt/slides/slide23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30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</p:sldIdLst>
  <p:sldSz cx="12192000" cy="6858000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 /><Relationship Id="rId32" Type="http://schemas.openxmlformats.org/officeDocument/2006/relationships/tableStyles" Target="tableStyles.xml" /><Relationship Id="rId33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8987993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55846925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US"/>
              <a:t>10/30/2013</a:t>
            </a:fld>
            <a:endParaRPr lang="en-US"/>
          </a:p>
        </p:txBody>
      </p:sp>
      <p:sp>
        <p:nvSpPr>
          <p:cNvPr id="1114537323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502451142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542968609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22880937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 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 ?>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 ?>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 ?>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 ?>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 ?>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 ?>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 ?>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 ?>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 ?>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5097697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594000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2559248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556644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6947929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120169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50C20C8-2CB8-6873-CD0B-CD76A64F28C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173702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297619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5318741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09A5A5D-7285-3734-EBB0-660193A2B53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281033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6063670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6638226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CD1D19A-C883-8CE5-0C23-E4FA287FCB5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423597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8704584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901799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36AD27A-171F-4D8F-BA0B-35D90D82AA3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562697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6066949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0703261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6D1FD3D-4F1A-221F-9F9F-62828A950D4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965426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2175715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189267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D63479F-DEDB-DDF6-689B-3ED2E12E378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831691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8843494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754154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3284100-E019-E35E-9C8D-18E969DBB60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513287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9053537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642244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DE7600B-FC62-561C-3361-55BC8C66477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379399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4411336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051186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601DC28-F84D-D284-DC57-BA9F34DFEB6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069986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302052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5728453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EF8CA45-8930-F152-876C-678640FF7F5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394151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6448170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185632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54306E4-2B89-8028-8D0A-813D7A0B6C8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5458732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6380341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748403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4EFE075-1210-9503-57D1-2DE059454EA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705977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3907660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9516883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D544E11-83B5-23EE-7723-0F0D3F13766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4308370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1234093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3237150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6156BF0-903A-ED18-0815-FB1B7C5635C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2636663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7870843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907122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67650AF-769D-F3DA-301B-A85496F873C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111811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093490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891544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3919BE7-8D4F-2761-1FCA-B2A61B193D6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803693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290883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1384816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C0BF76B-F0C6-45AF-38BF-CE521743233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288589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2391484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2403862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414741D-A255-6B9D-52F2-D18544DD87B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785973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7312046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258164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116E76F-AD7A-3D46-AE92-B261CF575DD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801824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3001562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264752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7A38C9C-DC64-7946-C0E3-6D30EA0463A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471077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0462979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1911633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88DDB69-B55B-C575-2EA6-F7F30303D76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714731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89844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3829771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8E4D6EA-D634-B47A-3CD4-A38BCFC21E9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22882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1242181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808445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10DDB27-C152-3529-8953-D18DAB6D00E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875561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0389473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0523007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6A13F8D-64CF-997E-9DAA-C3D87262CD7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539374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9903773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5701953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573FD38-1638-C2A2-C649-B706AA8DA42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1152566" name="Shape 1059"/>
          <p:cNvSpPr>
            <a:spLocks noChangeArrowheads="1" noGrp="1"/>
          </p:cNvSpPr>
          <p:nvPr userDrawn="1"/>
        </p:nvSpPr>
        <p:spPr bwMode="auto">
          <a:xfrm>
            <a:off x="2396066" y="2291401"/>
            <a:ext cx="5452533" cy="4165115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22112" y="3116"/>
                </a:moveTo>
                <a:lnTo>
                  <a:pt x="22112" y="3116"/>
                </a:lnTo>
                <a:cubicBezTo>
                  <a:pt x="22112" y="3116"/>
                  <a:pt x="27356" y="0"/>
                  <a:pt x="30300" y="4263"/>
                </a:cubicBezTo>
                <a:lnTo>
                  <a:pt x="30300" y="4263"/>
                </a:lnTo>
                <a:cubicBezTo>
                  <a:pt x="33277" y="8577"/>
                  <a:pt x="36666" y="13779"/>
                  <a:pt x="39369" y="17410"/>
                </a:cubicBezTo>
                <a:lnTo>
                  <a:pt x="39369" y="17410"/>
                </a:lnTo>
                <a:cubicBezTo>
                  <a:pt x="41761" y="20624"/>
                  <a:pt x="43200" y="22708"/>
                  <a:pt x="40979" y="26940"/>
                </a:cubicBezTo>
                <a:lnTo>
                  <a:pt x="40979" y="26940"/>
                </a:lnTo>
                <a:cubicBezTo>
                  <a:pt x="39655" y="29461"/>
                  <a:pt x="35076" y="35072"/>
                  <a:pt x="32639" y="38623"/>
                </a:cubicBezTo>
                <a:lnTo>
                  <a:pt x="32639" y="38623"/>
                </a:lnTo>
                <a:cubicBezTo>
                  <a:pt x="30200" y="42175"/>
                  <a:pt x="26202" y="43200"/>
                  <a:pt x="23268" y="42185"/>
                </a:cubicBezTo>
                <a:lnTo>
                  <a:pt x="23268" y="42185"/>
                </a:lnTo>
                <a:cubicBezTo>
                  <a:pt x="20331" y="41168"/>
                  <a:pt x="11584" y="38623"/>
                  <a:pt x="6213" y="36974"/>
                </a:cubicBezTo>
                <a:lnTo>
                  <a:pt x="6213" y="36974"/>
                </a:lnTo>
                <a:cubicBezTo>
                  <a:pt x="1431" y="35502"/>
                  <a:pt x="0" y="32900"/>
                  <a:pt x="214" y="31157"/>
                </a:cubicBezTo>
                <a:lnTo>
                  <a:pt x="214" y="31157"/>
                </a:lnTo>
                <a:cubicBezTo>
                  <a:pt x="760" y="26703"/>
                  <a:pt x="1113" y="19920"/>
                  <a:pt x="1214" y="16042"/>
                </a:cubicBezTo>
                <a:lnTo>
                  <a:pt x="1214" y="16042"/>
                </a:lnTo>
                <a:cubicBezTo>
                  <a:pt x="1303" y="12626"/>
                  <a:pt x="4203" y="11313"/>
                  <a:pt x="6907" y="9989"/>
                </a:cubicBezTo>
                <a:lnTo>
                  <a:pt x="6907" y="9989"/>
                </a:lnTo>
                <a:cubicBezTo>
                  <a:pt x="9245" y="8843"/>
                  <a:pt x="19774" y="4261"/>
                  <a:pt x="22112" y="3116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901555288" name="Shape 1060"/>
          <p:cNvSpPr>
            <a:spLocks noChangeArrowheads="1" noGrp="1"/>
          </p:cNvSpPr>
          <p:nvPr userDrawn="1"/>
        </p:nvSpPr>
        <p:spPr bwMode="auto">
          <a:xfrm>
            <a:off x="1309514" y="1839834"/>
            <a:ext cx="4011787" cy="1314324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0162" y="13104"/>
                </a:moveTo>
                <a:lnTo>
                  <a:pt x="40162" y="13104"/>
                </a:lnTo>
                <a:cubicBezTo>
                  <a:pt x="36799" y="16736"/>
                  <a:pt x="26204" y="28154"/>
                  <a:pt x="22676" y="31251"/>
                </a:cubicBezTo>
                <a:lnTo>
                  <a:pt x="22676" y="31251"/>
                </a:lnTo>
                <a:cubicBezTo>
                  <a:pt x="18513" y="34899"/>
                  <a:pt x="15093" y="37527"/>
                  <a:pt x="13136" y="38511"/>
                </a:cubicBezTo>
                <a:lnTo>
                  <a:pt x="13136" y="38511"/>
                </a:lnTo>
                <a:cubicBezTo>
                  <a:pt x="10861" y="39650"/>
                  <a:pt x="0" y="43200"/>
                  <a:pt x="422" y="38511"/>
                </a:cubicBezTo>
                <a:lnTo>
                  <a:pt x="422" y="38511"/>
                </a:lnTo>
                <a:cubicBezTo>
                  <a:pt x="750" y="34836"/>
                  <a:pt x="12785" y="17028"/>
                  <a:pt x="15584" y="14358"/>
                </a:cubicBezTo>
                <a:lnTo>
                  <a:pt x="15584" y="14358"/>
                </a:lnTo>
                <a:cubicBezTo>
                  <a:pt x="18382" y="11693"/>
                  <a:pt x="34508" y="0"/>
                  <a:pt x="36286" y="2133"/>
                </a:cubicBezTo>
                <a:lnTo>
                  <a:pt x="36286" y="2133"/>
                </a:lnTo>
                <a:cubicBezTo>
                  <a:pt x="38064" y="4272"/>
                  <a:pt x="43200" y="9825"/>
                  <a:pt x="40162" y="13104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354532657" name="Shape 1061"/>
          <p:cNvSpPr>
            <a:spLocks noChangeArrowheads="1" noGrp="1"/>
          </p:cNvSpPr>
          <p:nvPr userDrawn="1"/>
        </p:nvSpPr>
        <p:spPr bwMode="auto">
          <a:xfrm>
            <a:off x="6567030" y="4629133"/>
            <a:ext cx="5395523" cy="2231707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3200" y="43200"/>
                </a:moveTo>
                <a:lnTo>
                  <a:pt x="43200" y="43200"/>
                </a:lnTo>
                <a:cubicBezTo>
                  <a:pt x="42680" y="32337"/>
                  <a:pt x="42264" y="24810"/>
                  <a:pt x="41982" y="22533"/>
                </a:cubicBezTo>
                <a:lnTo>
                  <a:pt x="41982" y="22533"/>
                </a:lnTo>
                <a:cubicBezTo>
                  <a:pt x="41353" y="17445"/>
                  <a:pt x="31020" y="10782"/>
                  <a:pt x="25434" y="7567"/>
                </a:cubicBezTo>
                <a:lnTo>
                  <a:pt x="25434" y="7567"/>
                </a:lnTo>
                <a:cubicBezTo>
                  <a:pt x="20461" y="4707"/>
                  <a:pt x="15752" y="0"/>
                  <a:pt x="10688" y="12771"/>
                </a:cubicBezTo>
                <a:lnTo>
                  <a:pt x="10688" y="12771"/>
                </a:lnTo>
                <a:cubicBezTo>
                  <a:pt x="5409" y="26085"/>
                  <a:pt x="2329" y="33891"/>
                  <a:pt x="451" y="39632"/>
                </a:cubicBezTo>
                <a:lnTo>
                  <a:pt x="451" y="39632"/>
                </a:lnTo>
                <a:cubicBezTo>
                  <a:pt x="180" y="40459"/>
                  <a:pt x="44" y="41820"/>
                  <a:pt x="0" y="43200"/>
                </a:cubicBezTo>
                <a:lnTo>
                  <a:pt x="43200" y="432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527105366" name="Shape 1062"/>
          <p:cNvSpPr>
            <a:spLocks noChangeArrowheads="1" noGrp="1"/>
          </p:cNvSpPr>
          <p:nvPr userDrawn="1"/>
        </p:nvSpPr>
        <p:spPr bwMode="auto">
          <a:xfrm>
            <a:off x="389187" y="6100774"/>
            <a:ext cx="4968521" cy="759999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3200" y="43200"/>
                </a:moveTo>
                <a:lnTo>
                  <a:pt x="43200" y="43200"/>
                </a:lnTo>
                <a:cubicBezTo>
                  <a:pt x="37750" y="34083"/>
                  <a:pt x="28707" y="20178"/>
                  <a:pt x="28707" y="20178"/>
                </a:cubicBezTo>
                <a:lnTo>
                  <a:pt x="28707" y="20178"/>
                </a:lnTo>
                <a:cubicBezTo>
                  <a:pt x="23196" y="11772"/>
                  <a:pt x="17935" y="0"/>
                  <a:pt x="14588" y="1341"/>
                </a:cubicBezTo>
                <a:lnTo>
                  <a:pt x="14588" y="1341"/>
                </a:lnTo>
                <a:cubicBezTo>
                  <a:pt x="11240" y="2673"/>
                  <a:pt x="6350" y="22671"/>
                  <a:pt x="1602" y="37718"/>
                </a:cubicBezTo>
                <a:lnTo>
                  <a:pt x="1602" y="37718"/>
                </a:lnTo>
                <a:cubicBezTo>
                  <a:pt x="1072" y="39393"/>
                  <a:pt x="536" y="41175"/>
                  <a:pt x="0" y="43200"/>
                </a:cubicBezTo>
                <a:lnTo>
                  <a:pt x="43200" y="432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713578464" name="Shape 1063"/>
          <p:cNvSpPr>
            <a:spLocks noChangeArrowheads="1" noGrp="1"/>
          </p:cNvSpPr>
          <p:nvPr userDrawn="1"/>
        </p:nvSpPr>
        <p:spPr bwMode="auto">
          <a:xfrm>
            <a:off x="0" y="3254701"/>
            <a:ext cx="2099733" cy="3343682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0" y="43200"/>
                </a:moveTo>
                <a:lnTo>
                  <a:pt x="0" y="43200"/>
                </a:lnTo>
                <a:cubicBezTo>
                  <a:pt x="10450" y="39319"/>
                  <a:pt x="26476" y="34991"/>
                  <a:pt x="31760" y="32779"/>
                </a:cubicBezTo>
                <a:lnTo>
                  <a:pt x="31760" y="32779"/>
                </a:lnTo>
                <a:cubicBezTo>
                  <a:pt x="38554" y="29929"/>
                  <a:pt x="35982" y="23868"/>
                  <a:pt x="39587" y="11934"/>
                </a:cubicBezTo>
                <a:lnTo>
                  <a:pt x="39587" y="11934"/>
                </a:lnTo>
                <a:cubicBezTo>
                  <a:pt x="43199" y="0"/>
                  <a:pt x="33409" y="2565"/>
                  <a:pt x="25082" y="2041"/>
                </a:cubicBezTo>
                <a:lnTo>
                  <a:pt x="25082" y="2041"/>
                </a:lnTo>
                <a:cubicBezTo>
                  <a:pt x="14497" y="1374"/>
                  <a:pt x="7053" y="4621"/>
                  <a:pt x="0" y="7243"/>
                </a:cubicBezTo>
                <a:lnTo>
                  <a:pt x="0" y="432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590015484" name="Subtitle 2"/>
          <p:cNvSpPr>
            <a:spLocks noGrp="1"/>
          </p:cNvSpPr>
          <p:nvPr>
            <p:ph type="subTitle" idx="1"/>
          </p:nvPr>
        </p:nvSpPr>
        <p:spPr bwMode="auto">
          <a:xfrm>
            <a:off x="4655839" y="2708919"/>
            <a:ext cx="6720745" cy="720079"/>
          </a:xfrm>
        </p:spPr>
        <p:txBody>
          <a:bodyPr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/>
              <a:t>Click to edit Master subtitle style</a:t>
            </a:r>
            <a:endParaRPr/>
          </a:p>
        </p:txBody>
      </p:sp>
      <p:sp>
        <p:nvSpPr>
          <p:cNvPr id="64142595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100048511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7739700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  <p:sp>
        <p:nvSpPr>
          <p:cNvPr id="915038174" name="Title 6"/>
          <p:cNvSpPr>
            <a:spLocks noGrp="1"/>
          </p:cNvSpPr>
          <p:nvPr>
            <p:ph type="title"/>
          </p:nvPr>
        </p:nvSpPr>
        <p:spPr bwMode="auto">
          <a:xfrm>
            <a:off x="4595833" y="1808820"/>
            <a:ext cx="6720745" cy="720079"/>
          </a:xfrm>
        </p:spPr>
        <p:txBody>
          <a:bodyPr/>
          <a:lstStyle>
            <a:lvl1pPr algn="r">
              <a:defRPr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103160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765338191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74158303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24978118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479308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0210030" name="Title 1"/>
          <p:cNvSpPr>
            <a:spLocks noGrp="1"/>
          </p:cNvSpPr>
          <p:nvPr>
            <p:ph type="title"/>
          </p:nvPr>
        </p:nvSpPr>
        <p:spPr bwMode="auto">
          <a:xfrm>
            <a:off x="963083" y="4406901"/>
            <a:ext cx="10363199" cy="1362074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5722702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963083" y="2906713"/>
            <a:ext cx="10363199" cy="150018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40054754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148539451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510334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440280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646585894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609599" y="1600201"/>
            <a:ext cx="5384799" cy="45259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334223064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97599" y="1600201"/>
            <a:ext cx="5384799" cy="45259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285159735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1553058874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0069829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236557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2036671586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599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1413464968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09599" y="2174874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847425757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93370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1885909761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93370" y="2174874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519214418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1729719810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70651311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157917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927107721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1770052778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9701794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0117502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1459544908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34396691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5861991" name="Title 1"/>
          <p:cNvSpPr>
            <a:spLocks noGrp="1"/>
          </p:cNvSpPr>
          <p:nvPr>
            <p:ph type="title"/>
          </p:nvPr>
        </p:nvSpPr>
        <p:spPr bwMode="auto">
          <a:xfrm>
            <a:off x="609603" y="273049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111539350" name="Content Placeholder 2"/>
          <p:cNvSpPr>
            <a:spLocks noGrp="1"/>
          </p:cNvSpPr>
          <p:nvPr>
            <p:ph idx="1"/>
          </p:nvPr>
        </p:nvSpPr>
        <p:spPr bwMode="auto">
          <a:xfrm>
            <a:off x="4766732" y="273051"/>
            <a:ext cx="681566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074280257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609603" y="1435102"/>
            <a:ext cx="4011084" cy="46910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602487634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1462971074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8273175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47204942" name="Title 1"/>
          <p:cNvSpPr>
            <a:spLocks noGrp="1"/>
          </p:cNvSpPr>
          <p:nvPr>
            <p:ph type="title"/>
          </p:nvPr>
        </p:nvSpPr>
        <p:spPr bwMode="auto">
          <a:xfrm>
            <a:off x="2389717" y="4800601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930720819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2389717" y="612774"/>
            <a:ext cx="7315200" cy="411479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/>
          </a:p>
        </p:txBody>
      </p:sp>
      <p:sp>
        <p:nvSpPr>
          <p:cNvPr id="807499306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1261772915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195322725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7789625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5775387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854424733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45804611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98838096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940440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4527186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839199" y="274639"/>
            <a:ext cx="2743200" cy="5851525"/>
          </a:xfrm>
        </p:spPr>
        <p:txBody>
          <a:bodyPr vert="eaVert"/>
          <a:lstStyle>
            <a:lvl1pPr algn="ctr">
              <a:defRPr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395335839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609599" y="274639"/>
            <a:ext cx="8026399" cy="5851525"/>
          </a:xfrm>
        </p:spPr>
        <p:txBody>
          <a:bodyPr vert="eaVert"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59678316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130200472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305897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3368585" name="Shape 1059"/>
          <p:cNvSpPr>
            <a:spLocks noChangeArrowheads="1" noGrp="1"/>
          </p:cNvSpPr>
          <p:nvPr userDrawn="1"/>
        </p:nvSpPr>
        <p:spPr bwMode="auto">
          <a:xfrm>
            <a:off x="4976706" y="2"/>
            <a:ext cx="3058159" cy="893790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0" y="0"/>
                </a:moveTo>
                <a:lnTo>
                  <a:pt x="0" y="0"/>
                </a:lnTo>
                <a:cubicBezTo>
                  <a:pt x="1690" y="6213"/>
                  <a:pt x="3698" y="13338"/>
                  <a:pt x="6091" y="21902"/>
                </a:cubicBezTo>
                <a:lnTo>
                  <a:pt x="6091" y="21902"/>
                </a:lnTo>
                <a:cubicBezTo>
                  <a:pt x="12043" y="43199"/>
                  <a:pt x="17573" y="35347"/>
                  <a:pt x="23417" y="30579"/>
                </a:cubicBezTo>
                <a:lnTo>
                  <a:pt x="23417" y="30579"/>
                </a:lnTo>
                <a:cubicBezTo>
                  <a:pt x="29984" y="25223"/>
                  <a:pt x="42123" y="14119"/>
                  <a:pt x="42860" y="5640"/>
                </a:cubicBezTo>
                <a:lnTo>
                  <a:pt x="42860" y="5640"/>
                </a:lnTo>
                <a:cubicBezTo>
                  <a:pt x="42960" y="4507"/>
                  <a:pt x="43072" y="2479"/>
                  <a:pt x="43200" y="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269462366" name="Shape 1060"/>
          <p:cNvSpPr>
            <a:spLocks noChangeArrowheads="1" noGrp="1"/>
          </p:cNvSpPr>
          <p:nvPr userDrawn="1"/>
        </p:nvSpPr>
        <p:spPr bwMode="auto">
          <a:xfrm>
            <a:off x="-24679" y="1"/>
            <a:ext cx="1399539" cy="1797558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31743" y="2484"/>
                </a:moveTo>
                <a:lnTo>
                  <a:pt x="31743" y="2484"/>
                </a:lnTo>
                <a:cubicBezTo>
                  <a:pt x="30428" y="1799"/>
                  <a:pt x="28450" y="1080"/>
                  <a:pt x="26054" y="0"/>
                </a:cubicBezTo>
                <a:lnTo>
                  <a:pt x="0" y="0"/>
                </a:lnTo>
                <a:lnTo>
                  <a:pt x="0" y="34200"/>
                </a:lnTo>
                <a:lnTo>
                  <a:pt x="0" y="34200"/>
                </a:lnTo>
                <a:cubicBezTo>
                  <a:pt x="7029" y="37461"/>
                  <a:pt x="14504" y="41491"/>
                  <a:pt x="25070" y="40664"/>
                </a:cubicBezTo>
                <a:lnTo>
                  <a:pt x="25070" y="40664"/>
                </a:lnTo>
                <a:cubicBezTo>
                  <a:pt x="33399" y="40015"/>
                  <a:pt x="43200" y="43200"/>
                  <a:pt x="39593" y="28375"/>
                </a:cubicBezTo>
                <a:lnTo>
                  <a:pt x="39593" y="28375"/>
                </a:lnTo>
                <a:cubicBezTo>
                  <a:pt x="35986" y="13550"/>
                  <a:pt x="38530" y="6023"/>
                  <a:pt x="31743" y="2484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537755397" name="Shape 1061"/>
          <p:cNvSpPr>
            <a:spLocks noChangeArrowheads="1" noGrp="1"/>
          </p:cNvSpPr>
          <p:nvPr userDrawn="1"/>
        </p:nvSpPr>
        <p:spPr bwMode="auto">
          <a:xfrm>
            <a:off x="1637456" y="1"/>
            <a:ext cx="3839633" cy="2609650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32864" y="0"/>
                </a:moveTo>
                <a:lnTo>
                  <a:pt x="10583" y="0"/>
                </a:lnTo>
                <a:lnTo>
                  <a:pt x="10583" y="0"/>
                </a:lnTo>
                <a:cubicBezTo>
                  <a:pt x="9017" y="532"/>
                  <a:pt x="7515" y="1058"/>
                  <a:pt x="6214" y="1509"/>
                </a:cubicBezTo>
                <a:lnTo>
                  <a:pt x="6214" y="1509"/>
                </a:lnTo>
                <a:cubicBezTo>
                  <a:pt x="1428" y="3166"/>
                  <a:pt x="0" y="6109"/>
                  <a:pt x="212" y="8072"/>
                </a:cubicBezTo>
                <a:lnTo>
                  <a:pt x="212" y="8072"/>
                </a:lnTo>
                <a:cubicBezTo>
                  <a:pt x="758" y="13092"/>
                  <a:pt x="1111" y="20742"/>
                  <a:pt x="1212" y="25114"/>
                </a:cubicBezTo>
                <a:lnTo>
                  <a:pt x="1212" y="25114"/>
                </a:lnTo>
                <a:cubicBezTo>
                  <a:pt x="1301" y="28962"/>
                  <a:pt x="4204" y="30446"/>
                  <a:pt x="6906" y="31937"/>
                </a:cubicBezTo>
                <a:lnTo>
                  <a:pt x="6906" y="31937"/>
                </a:lnTo>
                <a:cubicBezTo>
                  <a:pt x="9246" y="33229"/>
                  <a:pt x="19775" y="38395"/>
                  <a:pt x="22112" y="39685"/>
                </a:cubicBezTo>
                <a:lnTo>
                  <a:pt x="22112" y="39685"/>
                </a:lnTo>
                <a:cubicBezTo>
                  <a:pt x="22112" y="39685"/>
                  <a:pt x="27355" y="43200"/>
                  <a:pt x="30298" y="38395"/>
                </a:cubicBezTo>
                <a:lnTo>
                  <a:pt x="30298" y="38395"/>
                </a:lnTo>
                <a:cubicBezTo>
                  <a:pt x="33277" y="33533"/>
                  <a:pt x="36665" y="27667"/>
                  <a:pt x="39367" y="23576"/>
                </a:cubicBezTo>
                <a:lnTo>
                  <a:pt x="39367" y="23576"/>
                </a:lnTo>
                <a:cubicBezTo>
                  <a:pt x="41761" y="19953"/>
                  <a:pt x="43200" y="17587"/>
                  <a:pt x="40977" y="12816"/>
                </a:cubicBezTo>
                <a:lnTo>
                  <a:pt x="40977" y="12816"/>
                </a:lnTo>
                <a:cubicBezTo>
                  <a:pt x="39697" y="10062"/>
                  <a:pt x="35347" y="3936"/>
                  <a:pt x="32864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547410573" name="Title 1"/>
          <p:cNvSpPr>
            <a:spLocks noGrp="1"/>
          </p:cNvSpPr>
          <p:nvPr>
            <p:ph type="title"/>
          </p:nvPr>
        </p:nvSpPr>
        <p:spPr bwMode="auto">
          <a:xfrm>
            <a:off x="609599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904005966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599" y="1600201"/>
            <a:ext cx="10972800" cy="45259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548592309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609599" y="6356351"/>
            <a:ext cx="284479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1139281471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165599" y="6356351"/>
            <a:ext cx="3860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0557100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737599" y="6356351"/>
            <a:ext cx="284479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r" defTabSz="914400" rtl="0">
        <a:spcBef>
          <a:spcPts val="0"/>
        </a:spcBef>
        <a:buNone/>
        <a:defRPr sz="4400">
          <a:solidFill>
            <a:schemeClr val="tx1">
              <a:lumMod val="65000"/>
              <a:lumOff val="35000"/>
            </a:schemeClr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>
        <a:spcBef>
          <a:spcPts val="0"/>
        </a:spcBef>
        <a:buFont typeface="Arial"/>
        <a:buChar char="•"/>
        <a:defRPr sz="3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914400" rtl="0">
        <a:spcBef>
          <a:spcPts val="0"/>
        </a:spcBef>
        <a:buFont typeface="Arial"/>
        <a:buChar char="–"/>
        <a:defRPr sz="28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>
        <a:spcBef>
          <a:spcPts val="0"/>
        </a:spcBef>
        <a:buFont typeface="Arial"/>
        <a:buChar char="•"/>
        <a:defRPr sz="24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>
        <a:spcBef>
          <a:spcPts val="0"/>
        </a:spcBef>
        <a:buFont typeface="Arial"/>
        <a:buChar char="–"/>
        <a:defRPr sz="20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>
        <a:spcBef>
          <a:spcPts val="0"/>
        </a:spcBef>
        <a:buFont typeface="Arial"/>
        <a:buChar char="»"/>
        <a:defRPr sz="20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599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0.png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Relationship Id="rId4" Type="http://schemas.openxmlformats.org/officeDocument/2006/relationships/image" Target="../media/image13.png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8.png"/><Relationship Id="rId4" Type="http://schemas.openxmlformats.org/officeDocument/2006/relationships/image" Target="../media/image14.png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5.png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6.png"/><Relationship Id="rId4" Type="http://schemas.openxmlformats.org/officeDocument/2006/relationships/image" Target="../media/image17.png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.png"/><Relationship Id="rId4" Type="http://schemas.openxmlformats.org/officeDocument/2006/relationships/image" Target="../media/image18.png"/></Relationships>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8.png"/><Relationship Id="rId4" Type="http://schemas.openxmlformats.org/officeDocument/2006/relationships/image" Target="../media/image19.png"/></Relationships>
</file>

<file path=ppt/slides/_rels/slide2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0.png"/></Relationships>
</file>

<file path=ppt/slides/_rels/slide2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1.png"/><Relationship Id="rId4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587262" name="Title 1"/>
          <p:cNvSpPr>
            <a:spLocks noGrp="1"/>
          </p:cNvSpPr>
          <p:nvPr>
            <p:ph type="ctrTitle"/>
          </p:nvPr>
        </p:nvSpPr>
        <p:spPr bwMode="auto">
          <a:xfrm>
            <a:off x="4595833" y="665820"/>
            <a:ext cx="6720745" cy="720079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 fontScale="90000" lnSpcReduction="2000"/>
          </a:bodyPr>
          <a:lstStyle/>
          <a:p>
            <a:pPr>
              <a:defRPr/>
            </a:pPr>
            <a:r>
              <a:rPr lang="it-IT"/>
              <a:t>Lightning Network Generator</a:t>
            </a:r>
            <a:endParaRPr lang="en-US"/>
          </a:p>
        </p:txBody>
      </p:sp>
      <p:sp>
        <p:nvSpPr>
          <p:cNvPr id="1570389592" name="Subtitle 2"/>
          <p:cNvSpPr>
            <a:spLocks noGrp="1"/>
          </p:cNvSpPr>
          <p:nvPr>
            <p:ph type="subTitle" idx="1"/>
          </p:nvPr>
        </p:nvSpPr>
        <p:spPr bwMode="auto">
          <a:xfrm flipH="0" flipV="0">
            <a:off x="1204348" y="2973502"/>
            <a:ext cx="10172236" cy="1863079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lang="it-IT"/>
              <a:t>Un framework  per la generazione sintetica di reti di canali di pagamento e l’analisi di verosimiglianza relativa alla vera rete della LN</a:t>
            </a: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2159191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 algn="l">
              <a:defRPr/>
            </a:pPr>
            <a:r>
              <a:rPr lang="it-IT"/>
              <a:t>Motivazioni</a:t>
            </a:r>
            <a:endParaRPr/>
          </a:p>
        </p:txBody>
      </p:sp>
      <p:sp>
        <p:nvSpPr>
          <p:cNvPr id="1758308556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it-IT"/>
              <a:t>Lo studio di grandi reti viene effettuato mediante modelli generativi.</a:t>
            </a:r>
            <a:endParaRPr lang="it-IT"/>
          </a:p>
          <a:p>
            <a:pPr>
              <a:defRPr/>
            </a:pPr>
            <a:r>
              <a:rPr lang="it-IT"/>
              <a:t>Per quanto riguarda la LN viene usato il metodo di BA grazie alla sua natura di rete scale-free</a:t>
            </a:r>
            <a:endParaRPr lang="it-IT"/>
          </a:p>
          <a:p>
            <a:pPr>
              <a:defRPr/>
            </a:pPr>
            <a:r>
              <a:rPr lang="it-IT"/>
              <a:t>Ma questo genera diverse problematiche soprattutto riguardanti l’assortatività della rete.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49087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 algn="l">
              <a:defRPr/>
            </a:pPr>
            <a:r>
              <a:rPr lang="it-IT"/>
              <a:t>Assortatività</a:t>
            </a:r>
            <a:endParaRPr/>
          </a:p>
        </p:txBody>
      </p:sp>
      <p:sp>
        <p:nvSpPr>
          <p:cNvPr id="1632275367" name="Content Placeholder 2"/>
          <p:cNvSpPr>
            <a:spLocks noGrp="1"/>
          </p:cNvSpPr>
          <p:nvPr>
            <p:ph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95000" lnSpcReduction="1000"/>
          </a:bodyPr>
          <a:lstStyle/>
          <a:p>
            <a:pPr>
              <a:defRPr/>
            </a:pPr>
            <a:r>
              <a:rPr lang="it-IT"/>
              <a:t>L’assortatività è un concetto usato per descrivere la tendenza dei nodi a connettersi con altri che gli siano simili in un qualche modo. (La nostra metrica sarà il grado dei nodi)</a:t>
            </a:r>
            <a:endParaRPr lang="it-IT"/>
          </a:p>
          <a:p>
            <a:pPr>
              <a:defRPr/>
            </a:pPr>
            <a:endParaRPr lang="it-IT"/>
          </a:p>
          <a:p>
            <a:pPr>
              <a:defRPr/>
            </a:pPr>
            <a:r>
              <a:rPr lang="it-IT"/>
              <a:t>L’assortatività è un valore compreso tra -1 e 1 </a:t>
            </a:r>
            <a:r>
              <a:rPr lang="it-IT"/>
              <a:t>dove:</a:t>
            </a:r>
            <a:endParaRPr lang="it-IT"/>
          </a:p>
          <a:p>
            <a:pPr lvl="1">
              <a:defRPr/>
            </a:pPr>
            <a:r>
              <a:rPr lang="it-IT"/>
              <a:t>Più è vicina a -1 più i nodi si connettono ad altri che siano diversi da loro</a:t>
            </a:r>
            <a:endParaRPr lang="it-IT"/>
          </a:p>
          <a:p>
            <a:pPr lvl="1">
              <a:defRPr/>
            </a:pPr>
            <a:r>
              <a:rPr lang="it-IT"/>
              <a:t>Più è vicina a 1 più i nodi si connettono ad altri che siano simili a loro</a:t>
            </a:r>
            <a:endParaRPr lang="it-IT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7028746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 algn="l">
              <a:defRPr/>
            </a:pPr>
            <a:r>
              <a:rPr lang="it-IT"/>
              <a:t>Assortatività nella LN</a:t>
            </a:r>
            <a:endParaRPr/>
          </a:p>
        </p:txBody>
      </p:sp>
      <p:pic>
        <p:nvPicPr>
          <p:cNvPr id="1250956128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2304317" y="1600200"/>
            <a:ext cx="6782942" cy="4304085"/>
          </a:xfrm>
          <a:prstGeom prst="rect">
            <a:avLst/>
          </a:prstGeom>
        </p:spPr>
      </p:pic>
      <p:sp>
        <p:nvSpPr>
          <p:cNvPr id="885582041" name=""/>
          <p:cNvSpPr txBox="1"/>
          <p:nvPr/>
        </p:nvSpPr>
        <p:spPr bwMode="auto">
          <a:xfrm rot="0" flipH="0" flipV="0">
            <a:off x="807836" y="5641064"/>
            <a:ext cx="10148868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it-IT"/>
              <a:t>proveniente da:</a:t>
            </a:r>
            <a:endParaRPr lang="it-IT"/>
          </a:p>
          <a:p>
            <a:pPr>
              <a:defRPr/>
            </a:pPr>
            <a:r>
              <a:rPr lang="it-IT"/>
              <a:t>	 </a:t>
            </a:r>
            <a:r>
              <a:rPr lang="it-IT" sz="1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Can Lightning Network’s Autopilot </a:t>
            </a:r>
            <a:r>
              <a:rPr lang="it-IT" sz="1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Function Use BA Model as the </a:t>
            </a:r>
            <a:r>
              <a:rPr lang="it-IT" sz="1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Underlying Network?</a:t>
            </a:r>
            <a:endParaRPr lang="it-IT" sz="1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099952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 algn="l">
              <a:defRPr/>
            </a:pPr>
            <a:r>
              <a:rPr lang="it-IT"/>
              <a:t>Obiettivi</a:t>
            </a:r>
            <a:endParaRPr/>
          </a:p>
        </p:txBody>
      </p:sp>
      <p:sp>
        <p:nvSpPr>
          <p:cNvPr id="1478666874" name="Content Placeholder 2"/>
          <p:cNvSpPr>
            <a:spLocks noGrp="1"/>
          </p:cNvSpPr>
          <p:nvPr>
            <p:ph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/>
          </a:bodyPr>
          <a:lstStyle/>
          <a:p>
            <a:pPr marL="438080" indent="-438080">
              <a:buFont typeface="Arial"/>
              <a:buAutoNum type="romanUcPeriod"/>
              <a:defRPr/>
            </a:pPr>
            <a:r>
              <a:rPr lang="it-IT"/>
              <a:t>Generazione di grafi randomici:</a:t>
            </a:r>
            <a:endParaRPr lang="it-IT"/>
          </a:p>
          <a:p>
            <a:pPr marL="400050" lvl="1" indent="0">
              <a:buFont typeface="Arial"/>
              <a:buNone/>
              <a:defRPr/>
            </a:pPr>
            <a:r>
              <a:rPr lang="it-IT" sz="2400"/>
              <a:t>Creazione di grafi che si avvicinino il più possibile all’assortatività della LN usando dei modelli generativi costruiti ad-hoc a partire dal modello di Barab</a:t>
            </a:r>
            <a:r>
              <a:rPr lang="it-IT" sz="24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á</a:t>
            </a:r>
            <a:r>
              <a:rPr lang="it-IT" sz="2400"/>
              <a:t>si-Ardbert</a:t>
            </a:r>
            <a:endParaRPr lang="it-IT" sz="2400"/>
          </a:p>
          <a:p>
            <a:pPr marL="394023" lvl="0" indent="-394023">
              <a:lnSpc>
                <a:spcPct val="100000"/>
              </a:lnSpc>
              <a:buFont typeface="Arial"/>
              <a:buAutoNum type="romanUcPeriod"/>
              <a:defRPr/>
            </a:pPr>
            <a:r>
              <a:rPr lang="it-IT" sz="3200"/>
              <a:t>Analisi dei grafi</a:t>
            </a:r>
            <a:r>
              <a:rPr lang="it-IT" sz="3200"/>
              <a:t>:</a:t>
            </a:r>
            <a:endParaRPr lang="it-IT" sz="3200"/>
          </a:p>
          <a:p>
            <a:pPr marL="400050" lvl="1" indent="0">
              <a:buFont typeface="Arial"/>
              <a:buNone/>
              <a:defRPr/>
            </a:pPr>
            <a:r>
              <a:rPr lang="it-IT" sz="2400"/>
              <a:t>Valutazione e confronto delle metriche delle varie reti generate dai vari modelli</a:t>
            </a:r>
            <a:endParaRPr sz="2600"/>
          </a:p>
          <a:p>
            <a:pPr marL="400050" lvl="1" indent="0">
              <a:buFont typeface="Arial"/>
              <a:buNone/>
              <a:defRPr/>
            </a:pPr>
            <a:endParaRPr lang="it-IT" sz="2400"/>
          </a:p>
          <a:p>
            <a:pPr marL="394023" lvl="0" indent="-394023">
              <a:buFont typeface="Arial"/>
              <a:buAutoNum type="romanUcPeriod"/>
              <a:defRPr/>
            </a:pPr>
            <a:endParaRPr sz="32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7005799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 algn="l">
              <a:defRPr/>
            </a:pPr>
            <a:r>
              <a:rPr lang="it-IT"/>
              <a:t>Generazione delle reti</a:t>
            </a:r>
            <a:endParaRPr/>
          </a:p>
        </p:txBody>
      </p:sp>
      <p:sp>
        <p:nvSpPr>
          <p:cNvPr id="1036314540" name="Content Placeholder 2"/>
          <p:cNvSpPr>
            <a:spLocks noGrp="1"/>
          </p:cNvSpPr>
          <p:nvPr>
            <p:ph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95000" lnSpcReduction="1000"/>
          </a:bodyPr>
          <a:lstStyle/>
          <a:p>
            <a:pPr marL="0" indent="0">
              <a:buFont typeface="Arial"/>
              <a:buNone/>
              <a:defRPr/>
            </a:pPr>
            <a:r>
              <a:rPr lang="it-IT"/>
              <a:t>All’interno del framework verranno visti due principali modelli generativi</a:t>
            </a:r>
            <a:endParaRPr/>
          </a:p>
          <a:p>
            <a:pPr marL="0" indent="0">
              <a:buFont typeface="Arial"/>
              <a:buNone/>
              <a:defRPr/>
            </a:pPr>
            <a:endParaRPr/>
          </a:p>
          <a:p>
            <a:pPr marL="794073" lvl="1" indent="-394023">
              <a:buFont typeface="Arial"/>
              <a:buAutoNum type="arabicPeriod"/>
              <a:defRPr/>
            </a:pPr>
            <a:r>
              <a:rPr lang="it-IT"/>
              <a:t>Un modello in cui la logica secondo cui gli archi vengano creati e distrutti si basi interamente sui gradi dei nodi</a:t>
            </a:r>
            <a:endParaRPr lang="it-IT"/>
          </a:p>
          <a:p>
            <a:pPr marL="794073" lvl="1" indent="-394023">
              <a:buFont typeface="Arial"/>
              <a:buAutoNum type="arabicPeriod"/>
              <a:defRPr/>
            </a:pPr>
            <a:endParaRPr lang="it-IT"/>
          </a:p>
          <a:p>
            <a:pPr marL="794073" lvl="1" indent="-394023">
              <a:buFont typeface="Arial"/>
              <a:buAutoNum type="arabicPeriod"/>
              <a:defRPr/>
            </a:pPr>
            <a:r>
              <a:rPr lang="it-IT"/>
              <a:t>Un modello in cui la logica invece si basa sulla capacità dei vari canali</a:t>
            </a:r>
            <a:endParaRPr lang="it-IT"/>
          </a:p>
          <a:p>
            <a:pPr marL="0" indent="0">
              <a:buFont typeface="Arial"/>
              <a:buNone/>
              <a:defRPr/>
            </a:pPr>
            <a:endParaRPr/>
          </a:p>
        </p:txBody>
      </p:sp>
      <p:sp>
        <p:nvSpPr>
          <p:cNvPr id="178268688" name=""/>
          <p:cNvSpPr txBox="1"/>
          <p:nvPr/>
        </p:nvSpPr>
        <p:spPr bwMode="auto">
          <a:xfrm rot="0" flipH="0" flipV="0">
            <a:off x="697932" y="5769951"/>
            <a:ext cx="10406390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it-IT"/>
              <a:t>Descritti all’interno di :</a:t>
            </a:r>
            <a:endParaRPr lang="it-IT"/>
          </a:p>
          <a:p>
            <a:pPr>
              <a:defRPr/>
            </a:pPr>
            <a:r>
              <a:rPr lang="it-IT" sz="1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		Disassortative dynamic BA models inspired by the</a:t>
            </a:r>
            <a:r>
              <a:rPr lang="it-IT" sz="1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sz="1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Bitcoin Lightning Network</a:t>
            </a:r>
            <a:endParaRPr lang="it-IT" sz="1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358830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 algn="l">
              <a:defRPr/>
            </a:pPr>
            <a:r>
              <a:rPr lang="it-IT"/>
              <a:t>Primo modello: </a:t>
            </a:r>
            <a:r>
              <a:rPr lang="it-IT" sz="3600"/>
              <a:t>Generazione della </a:t>
            </a:r>
            <a:r>
              <a:rPr lang="it-IT" sz="3600"/>
              <a:t>topolo</a:t>
            </a:r>
            <a:r>
              <a:rPr lang="it-IT" sz="3600"/>
              <a:t>gia</a:t>
            </a:r>
            <a:endParaRPr/>
          </a:p>
        </p:txBody>
      </p:sp>
      <p:sp>
        <p:nvSpPr>
          <p:cNvPr id="1644538476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marL="0" indent="0">
              <a:buFont typeface="Arial"/>
              <a:buNone/>
              <a:defRPr/>
            </a:pPr>
            <a:r>
              <a:rPr lang="it-IT" sz="2800"/>
              <a:t>A partire da una clique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lang="it-IT" sz="2800" u="none" strike="noStrike" cap="none" spc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it-IT" sz="2800" u="none" strike="noStrike" cap="none" spc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G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it-IT" sz="2800" u="none" strike="noStrike" cap="none" spc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0</m:t>
                          </m:r>
                        </m:sub>
                      </m:sSub>
                      <m:r>
                        <m:rPr/>
                        <a:rPr lang="it-IT" sz="2800" u="none" strike="noStrike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d>
                        <m:dPr>
                          <m:begChr m:val="("/>
                          <m:endChr m:val=")"/>
                          <m:ctrlPr>
                            <a:rPr lang="it-IT" sz="2800" u="none" strike="noStrike" cap="none" spc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it-IT" sz="2800" u="none" strike="noStrike" cap="none" spc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m:rPr/>
                                <a:rPr lang="it-IT" sz="2800" u="none" strike="noStrike" cap="none" spc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V</m:t>
                              </m:r>
                            </m:e>
                            <m:sub>
                              <m:r>
                                <m:rPr/>
                                <a:rPr lang="it-IT" sz="2800" u="none" strike="noStrike" cap="none" spc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0</m:t>
                              </m:r>
                            </m:sub>
                          </m:sSub>
                          <m:r>
                            <m:rPr/>
                            <a:rPr lang="it-IT" sz="2800" u="none" strike="noStrike" cap="none" spc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,</m:t>
                          </m:r>
                          <m:sSub>
                            <m:sSubPr>
                              <m:ctrlPr>
                                <a:rPr lang="it-IT" sz="2800" u="none" strike="noStrike" cap="none" spc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m:rPr/>
                                <a:rPr lang="it-IT" sz="2800" u="none" strike="noStrike" cap="none" spc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E</m:t>
                              </m:r>
                            </m:e>
                            <m:sub>
                              <m:r>
                                <m:rPr/>
                                <a:rPr lang="it-IT" sz="2800" u="none" strike="noStrike" cap="none" spc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</mc:Choice>
              <mc:Fallback/>
            </mc:AlternateContent>
            <a:r>
              <a:rPr lang="it-IT" sz="2800"/>
              <a:t> ad ogni round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sty m:val="p"/>
                        </m:rPr>
                        <a:rPr lang="it-IT" sz="2800" u="none" strike="noStrike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i</m:t>
                      </m:r>
                    </m:oMath>
                  </m:oMathPara>
                </a14:m>
              </mc:Choice>
              <mc:Fallback/>
            </mc:AlternateContent>
            <a:r>
              <a:rPr lang="it-IT" sz="2800"/>
              <a:t> il grafo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lang="it-IT" sz="2800" u="none" strike="noStrike" cap="none" spc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it-IT" sz="2800" u="none" strike="noStrike" cap="none" spc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G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it-IT" sz="2600" u="none" strike="noStrike" cap="none" spc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i+1</m:t>
                          </m:r>
                        </m:sub>
                      </m:sSub>
                    </m:oMath>
                  </m:oMathPara>
                </a14:m>
              </mc:Choice>
              <mc:Fallback/>
            </mc:AlternateContent>
            <a:r>
              <a:rPr lang="it-IT" sz="2800"/>
              <a:t> verrà generato in questo modo: </a:t>
            </a:r>
            <a:endParaRPr lang="it-IT" sz="2600"/>
          </a:p>
          <a:p>
            <a:pPr marL="0" indent="0">
              <a:buFont typeface="Arial"/>
              <a:buNone/>
              <a:defRPr/>
            </a:pPr>
            <a:endParaRPr lang="it-IT" sz="2600"/>
          </a:p>
          <a:p>
            <a:pPr marL="727986" lvl="1" indent="-327936">
              <a:buFont typeface="Arial"/>
              <a:buAutoNum type="arabicPeriod"/>
              <a:defRPr/>
            </a:pPr>
            <a:r>
              <a:rPr lang="it-IT" sz="2200"/>
              <a:t>Aggiungiamo l’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sty m:val="p"/>
                        </m:rPr>
                        <a:rPr lang="it-IT" sz="2200" u="none" strike="noStrike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(i+1)</m:t>
                      </m:r>
                    </m:oMath>
                  </m:oMathPara>
                </a14:m>
              </mc:Choice>
              <mc:Fallback/>
            </mc:AlternateContent>
            <a:r>
              <a:rPr lang="it-IT" sz="2200"/>
              <a:t>-esimo nodo al grafo </a:t>
            </a:r>
            <a:endParaRPr lang="it-IT" sz="2200"/>
          </a:p>
          <a:p>
            <a:pPr marL="727986" lvl="1" indent="-327936">
              <a:buFont typeface="Arial"/>
              <a:buAutoNum type="arabicPeriod"/>
              <a:defRPr/>
            </a:pPr>
            <a:endParaRPr lang="it-IT" sz="2200"/>
          </a:p>
          <a:p>
            <a:pPr marL="727986" lvl="1" indent="-327936">
              <a:buFont typeface="Arial"/>
              <a:buAutoNum type="arabicPeriod"/>
              <a:defRPr/>
            </a:pPr>
            <a:r>
              <a:rPr lang="it-IT" sz="2200"/>
              <a:t>Il nuovo nodo sceglie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sty m:val="p"/>
                        </m:rPr>
                        <a:rPr lang="it-IT" sz="2200" u="none" strike="noStrike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d</m:t>
                      </m:r>
                    </m:oMath>
                  </m:oMathPara>
                </a14:m>
              </mc:Choice>
              <mc:Fallback/>
            </mc:AlternateContent>
            <a:r>
              <a:rPr lang="it-IT" sz="2200"/>
              <a:t> nodi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lang="it-IT" sz="2200" u="none" strike="noStrike" cap="none" spc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it-IT" sz="2200" u="none" strike="noStrike" cap="none" spc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{u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it-IT" sz="2200" u="none" strike="noStrike" cap="none" spc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it-IT" sz="2200" u="none" strike="noStrike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,…,</m:t>
                      </m:r>
                      <m:sSub>
                        <m:sSubPr>
                          <m:ctrlPr>
                            <a:rPr lang="it-IT" sz="2200" u="none" strike="noStrike" cap="none" spc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it-IT" sz="2200" u="none" strike="noStrike" cap="none" spc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u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it-IT" sz="2200" u="none" strike="noStrike" cap="none" spc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d</m:t>
                          </m:r>
                        </m:sub>
                      </m:sSub>
                      <m:r>
                        <m:rPr/>
                        <a:rPr lang="it-IT" sz="2200" u="none" strike="noStrike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}</m:t>
                      </m:r>
                    </m:oMath>
                  </m:oMathPara>
                </a14:m>
              </mc:Choice>
              <mc:Fallback/>
            </mc:AlternateContent>
            <a:r>
              <a:rPr lang="it-IT" sz="2200"/>
              <a:t> a cui connettersi</a:t>
            </a:r>
            <a:r>
              <a:rPr lang="it-IT" sz="2200"/>
              <a:t> con prob.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f>
                        <m:fPr>
                          <m:ctrlPr>
                            <a:rPr lang="it-IT" sz="2200" u="none" strike="noStrike" cap="none" spc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it-IT" sz="2200" u="none" strike="noStrike" cap="none" spc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i"/>
                                </m:rPr>
                                <a:rPr lang="it-IT" sz="2200" u="none" strike="noStrike" cap="none" spc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deg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it-IT" sz="2200" u="none" strike="noStrike" cap="none" spc="0"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i"/>
                                    </m:rPr>
                                    <a:rPr lang="it-IT" sz="2200" u="none" strike="noStrike" cap="none" spc="0"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G</m:t>
                                  </m:r>
                                </m:e>
                                <m:sub>
                                  <m:r>
                                    <m:rPr>
                                      <m:sty m:val="i"/>
                                    </m:rPr>
                                    <a:rPr lang="it-IT" sz="2200" u="none" strike="noStrike" cap="none" spc="0"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i</m:t>
                                  </m:r>
                                </m:sub>
                              </m:sSub>
                            </m:sub>
                          </m:sSub>
                          <m:d>
                            <m:dPr>
                              <m:begChr m:val="("/>
                              <m:endChr m:val=")"/>
                              <m:ctrlPr>
                                <a:rPr lang="it-IT" sz="2200" u="none" strike="noStrike" cap="none" spc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it-IT" sz="2200" u="none" strike="noStrike" cap="none" spc="0"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i"/>
                                    </m:rPr>
                                    <a:rPr lang="it-IT" sz="2200" u="none" strike="noStrike" cap="none" spc="0"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u</m:t>
                                  </m:r>
                                </m:e>
                                <m:sub>
                                  <m:r>
                                    <m:rPr>
                                      <m:sty m:val="i"/>
                                    </m:rPr>
                                    <a:rPr lang="it-IT" sz="2200" u="none" strike="noStrike" cap="none" spc="0"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j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r>
                            <m:rPr>
                              <m:sty m:val="i"/>
                            </m:rPr>
                            <a:rPr lang="it-IT" sz="2200" u="none" strike="noStrike" cap="none" spc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it-IT" sz="2200" u="none" strike="noStrike" cap="none" spc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i"/>
                                </m:rPr>
                                <a:rPr lang="it-IT" sz="2200" u="none" strike="noStrike" cap="none" spc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E</m:t>
                              </m:r>
                            </m:e>
                          </m:d>
                        </m:den>
                      </m:f>
                    </m:oMath>
                  </m:oMathPara>
                </a14:m>
              </mc:Choice>
              <mc:Fallback/>
            </mc:AlternateContent>
            <a:r>
              <a:rPr lang="it-IT"/>
              <a:t>             </a:t>
            </a:r>
            <a:r>
              <a:rPr lang="it-IT" sz="2200" b="0" i="0" u="none" strike="noStrike" cap="none" spc="0">
                <a:solidFill>
                  <a:srgbClr val="404040"/>
                </a:solidFill>
                <a:latin typeface="Arial"/>
                <a:ea typeface="Arial"/>
                <a:cs typeface="Arial"/>
              </a:rPr>
              <a:t>(nel nostro caso d = 6)</a:t>
            </a:r>
            <a:endParaRPr lang="it-IT" sz="2200" b="0" i="0" u="none" strike="noStrike" cap="none" spc="0">
              <a:solidFill>
                <a:srgbClr val="404040"/>
              </a:solidFill>
              <a:latin typeface="Times New Roman"/>
              <a:cs typeface="Times New Roman"/>
            </a:endParaRPr>
          </a:p>
          <a:p>
            <a:pPr marL="727985" lvl="1" indent="-327935">
              <a:buFont typeface="Arial"/>
              <a:buAutoNum type="arabicPeriod"/>
              <a:defRPr/>
            </a:pPr>
            <a:endParaRPr lang="it-IT"/>
          </a:p>
          <a:p>
            <a:pPr marL="727986" lvl="1" indent="-327936">
              <a:buFont typeface="Arial"/>
              <a:buAutoNum type="arabicPeriod"/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sty m:val="p"/>
                        </m:rPr>
                        <a:rPr lang="it-IT" sz="2200" u="none" strike="noStrike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∀</m:t>
                      </m:r>
                      <m:d>
                        <m:dPr>
                          <m:begChr m:val="("/>
                          <m:endChr m:val=")"/>
                          <m:ctrlPr>
                            <a:rPr lang="it-IT" sz="2200" u="none" strike="noStrike" cap="none" spc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it-IT" sz="2200" u="none" strike="noStrike" cap="none" spc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u,v</m:t>
                          </m:r>
                        </m:e>
                      </m:d>
                      <m:r>
                        <m:rPr>
                          <m:sty m:val="p"/>
                        </m:rPr>
                        <a:rPr lang="it-IT" sz="2200" u="none" strike="noStrike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∈</m:t>
                      </m:r>
                      <m:sSub>
                        <m:sSubPr>
                          <m:ctrlPr>
                            <a:rPr lang="it-IT" sz="2200" u="none" strike="noStrike" cap="none" spc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it-IT" sz="2200" u="none" strike="noStrike" cap="none" spc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E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it-IT" sz="2200" u="none" strike="noStrike" cap="none" spc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</m:sub>
                      </m:sSub>
                    </m:oMath>
                  </m:oMathPara>
                </a14:m>
              </mc:Choice>
              <mc:Fallback/>
            </mc:AlternateContent>
            <a:r>
              <a:rPr lang="it-IT" sz="2200"/>
              <a:t> </a:t>
            </a:r>
            <a:r>
              <a:rPr lang="it-IT" sz="22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 ha una prob. di scomparire: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sty m:val="p"/>
                        </m:rPr>
                        <a:rPr lang="it-IT" sz="2200" u="none" strike="noStrike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exp</m:t>
                      </m:r>
                      <m:d>
                        <m:dPr>
                          <m:begChr m:val="("/>
                          <m:endChr m:val=")"/>
                          <m:ctrlPr>
                            <a:rPr lang="it-IT" sz="2200" u="none" strike="noStrike" cap="none" spc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it-IT" sz="2200" u="none" strike="noStrike" cap="none" spc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-β</m:t>
                          </m:r>
                          <m:acc>
                            <m:accPr>
                              <m:chr m:val="̇"/>
                              <m:ctrlPr>
                                <a:rPr lang="it-IT" sz="2200" u="none" strike="noStrike" cap="none" spc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accPr>
                            <m:e>
                              <m:r>
                                <m:rPr/>
                                <a:rPr lang="it-IT" sz="2200" u="none" strike="noStrike" cap="none" spc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 × </m:t>
                              </m:r>
                              <m:func>
                                <m:funcPr>
                                  <m:ctrlPr>
                                    <a:rPr lang="it-IT" sz="2200" u="none" strike="noStrike" cap="none" spc="0"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it-IT" sz="2200" u="none" strike="noStrike" cap="none" spc="0"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max</m:t>
                                  </m:r>
                                </m:fName>
                                <m:e>
                                  <m:sSub>
                                    <m:sSubPr>
                                      <m:ctrlPr>
                                        <a:rPr lang="it-IT" sz="2200" u="none" strike="noStrike" cap="none" spc="0"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</a:schemeClr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it-IT" sz="2200" u="none" strike="noStrike" cap="none" spc="0"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</a:schemeClr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deg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it-IT" sz="2200" u="none" strike="noStrike" cap="none" spc="0"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</a:schemeClr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it-IT" sz="2200" u="none" strike="noStrike" cap="none" spc="0"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</a:schemeClr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G</m:t>
                                          </m:r>
                                        </m:e>
                                        <m:sub>
                                          <m:r>
                                            <m:rPr>
                                              <m:sty m:val="p"/>
                                            </m:rPr>
                                            <a:rPr lang="it-IT" sz="2200" u="none" strike="noStrike" cap="none" spc="0"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</a:schemeClr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i</m:t>
                                          </m:r>
                                        </m:sub>
                                      </m:sSub>
                                    </m:sub>
                                  </m:sSub>
                                  <m:d>
                                    <m:dPr>
                                      <m:begChr m:val="("/>
                                      <m:endChr m:val=")"/>
                                      <m:ctrlPr>
                                        <a:rPr lang="it-IT" sz="2200" u="none" strike="noStrike" cap="none" spc="0"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</a:schemeClr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d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it-IT" sz="2200" u="none" strike="noStrike" cap="none" spc="0"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</a:schemeClr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u</m:t>
                                      </m:r>
                                    </m:e>
                                  </m:d>
                                  <m:r>
                                    <m:rPr>
                                      <m:sty m:val="p"/>
                                    </m:rPr>
                                    <a:rPr lang="it-IT" sz="2200" u="none" strike="noStrike" cap="none" spc="0"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,</m:t>
                                  </m:r>
                                  <m:func>
                                    <m:funcPr>
                                      <m:ctrlPr>
                                        <a:rPr lang="it-IT" sz="2200" u="none" strike="noStrike" cap="none" spc="0"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</a:schemeClr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funcPr>
                                    <m:fName>
                                      <m:sSub>
                                        <m:sSubPr>
                                          <m:ctrlPr>
                                            <a:rPr lang="it-IT" sz="2200" u="none" strike="noStrike" cap="none" spc="0"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</a:schemeClr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it-IT" sz="2200" u="none" strike="noStrike" cap="none" spc="0"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</a:schemeClr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deg</m:t>
                                          </m:r>
                                        </m:e>
                                        <m:sub>
                                          <m:sSub>
                                            <m:sSubPr>
                                              <m:ctrlPr>
                                                <a:rPr lang="it-IT" sz="2200" u="none" strike="noStrike" cap="none" spc="0">
                                                  <a:solidFill>
                                                    <a:schemeClr val="tx1">
                                                      <a:lumMod val="75000"/>
                                                      <a:lumOff val="25000"/>
                                                    </a:schemeClr>
                                                  </a:solidFill>
                                                  <a:latin typeface="Cambria Math"/>
                                                  <a:ea typeface="Cambria Math"/>
                                                  <a:cs typeface="Cambria Math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it-IT" sz="2200" u="none" strike="noStrike" cap="none" spc="0">
                                                  <a:solidFill>
                                                    <a:schemeClr val="tx1">
                                                      <a:lumMod val="75000"/>
                                                      <a:lumOff val="25000"/>
                                                    </a:schemeClr>
                                                  </a:solidFill>
                                                  <a:latin typeface="Cambria Math"/>
                                                  <a:ea typeface="Cambria Math"/>
                                                  <a:cs typeface="Cambria Math"/>
                                                </a:rPr>
                                                <m:t>G</m:t>
                                              </m:r>
                                            </m:e>
                                            <m:sub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it-IT" sz="2200" u="none" strike="noStrike" cap="none" spc="0">
                                                  <a:solidFill>
                                                    <a:schemeClr val="tx1">
                                                      <a:lumMod val="75000"/>
                                                      <a:lumOff val="25000"/>
                                                    </a:schemeClr>
                                                  </a:solidFill>
                                                  <a:latin typeface="Cambria Math"/>
                                                  <a:ea typeface="Cambria Math"/>
                                                  <a:cs typeface="Cambria Math"/>
                                                </a:rPr>
                                                <m:t>i</m:t>
                                              </m:r>
                                            </m:sub>
                                          </m:sSub>
                                        </m:sub>
                                      </m:sSub>
                                    </m:fName>
                                    <m:e>
                                      <m:d>
                                        <m:dPr>
                                          <m:begChr m:val="("/>
                                          <m:endChr m:val=")"/>
                                          <m:ctrlPr>
                                            <a:rPr lang="it-IT" sz="2200" u="none" strike="noStrike" cap="none" spc="0"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</a:schemeClr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it-IT" sz="2200" u="none" strike="noStrike" cap="none" spc="0"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</a:schemeClr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v</m:t>
                                          </m:r>
                                        </m:e>
                                      </m:d>
                                    </m:e>
                                  </m:func>
                                </m:e>
                              </m:func>
                            </m:e>
                          </m:acc>
                        </m:e>
                      </m:d>
                    </m:oMath>
                  </m:oMathPara>
                </a14:m>
              </mc:Choice>
              <mc:Fallback/>
            </mc:AlternateContent>
            <a:endParaRPr sz="2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0921410" name="Title 1"/>
          <p:cNvSpPr>
            <a:spLocks noGrp="1"/>
          </p:cNvSpPr>
          <p:nvPr>
            <p:ph type="title"/>
          </p:nvPr>
        </p:nvSpPr>
        <p:spPr bwMode="auto">
          <a:xfrm>
            <a:off x="609599" y="312738"/>
            <a:ext cx="10972800" cy="1143000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/>
          </a:bodyPr>
          <a:lstStyle/>
          <a:p>
            <a:pPr algn="l">
              <a:defRPr/>
            </a:pPr>
            <a:r>
              <a:rPr lang="it-IT"/>
              <a:t>Primo modello: </a:t>
            </a:r>
            <a:r>
              <a:rPr lang="it-IT" sz="3600"/>
              <a:t>Gradi dei nodi</a:t>
            </a:r>
            <a:endParaRPr/>
          </a:p>
        </p:txBody>
      </p:sp>
      <p:pic>
        <p:nvPicPr>
          <p:cNvPr id="1719553012" name=""/>
          <p:cNvPicPr>
            <a:picLocks noChangeAspect="1"/>
          </p:cNvPicPr>
          <p:nvPr>
            <p:ph idx="1"/>
          </p:nvPr>
        </p:nvPicPr>
        <p:blipFill rotWithShape="1">
          <a:blip r:embed="rId3"/>
          <a:stretch/>
        </p:blipFill>
        <p:spPr bwMode="auto">
          <a:xfrm rot="0" flipH="0" flipV="0">
            <a:off x="609599" y="1704653"/>
            <a:ext cx="4557149" cy="3602360"/>
          </a:xfrm>
          <a:prstGeom prst="rect">
            <a:avLst/>
          </a:prstGeom>
        </p:spPr>
      </p:pic>
      <p:pic>
        <p:nvPicPr>
          <p:cNvPr id="1576318080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6735161" y="1695887"/>
            <a:ext cx="4590191" cy="3611125"/>
          </a:xfrm>
          <a:prstGeom prst="rect">
            <a:avLst/>
          </a:prstGeom>
        </p:spPr>
      </p:pic>
      <p:sp>
        <p:nvSpPr>
          <p:cNvPr id="1707641803" name=""/>
          <p:cNvSpPr txBox="1"/>
          <p:nvPr/>
        </p:nvSpPr>
        <p:spPr bwMode="auto">
          <a:xfrm rot="0" flipH="0" flipV="0">
            <a:off x="918599" y="5486400"/>
            <a:ext cx="4239540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lang="it-IT"/>
              <a:t>Distribuzione nella LN</a:t>
            </a:r>
            <a:endParaRPr/>
          </a:p>
        </p:txBody>
      </p:sp>
      <p:sp>
        <p:nvSpPr>
          <p:cNvPr id="636525391" name=""/>
          <p:cNvSpPr txBox="1"/>
          <p:nvPr/>
        </p:nvSpPr>
        <p:spPr bwMode="auto">
          <a:xfrm rot="0" flipH="0" flipV="0">
            <a:off x="7085451" y="5486400"/>
            <a:ext cx="4249260" cy="666085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lang="it-IT"/>
              <a:t>Distribuzione nel grafo generato</a:t>
            </a:r>
            <a:endParaRPr/>
          </a:p>
          <a:p>
            <a:pPr algn="ctr">
              <a:defRPr/>
            </a:pPr>
            <a:r>
              <a:rPr lang="it-IT" sz="18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sty m:val="p"/>
                        </m:rPr>
                        <a:rPr lang="it-IT" sz="1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β=0.9</m:t>
                      </m:r>
                    </m:oMath>
                  </m:oMathPara>
                </a14:m>
              </mc:Choice>
              <mc:Fallback/>
            </mc:AlternateContent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69239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 algn="l">
              <a:defRPr/>
            </a:pPr>
            <a:r>
              <a:rPr lang="it-IT"/>
              <a:t>Primo modello: </a:t>
            </a:r>
            <a:r>
              <a:rPr lang="it-IT" sz="3600"/>
              <a:t>Assortatività</a:t>
            </a:r>
            <a:endParaRPr sz="3600"/>
          </a:p>
        </p:txBody>
      </p:sp>
      <p:pic>
        <p:nvPicPr>
          <p:cNvPr id="1056014668" name=""/>
          <p:cNvPicPr>
            <a:picLocks noChangeAspect="1"/>
          </p:cNvPicPr>
          <p:nvPr>
            <p:ph idx="1"/>
          </p:nvPr>
        </p:nvPicPr>
        <p:blipFill rotWithShape="1">
          <a:blip r:embed="rId3"/>
          <a:stretch/>
        </p:blipFill>
        <p:spPr bwMode="auto">
          <a:xfrm rot="0">
            <a:off x="2544222" y="1600201"/>
            <a:ext cx="7103553" cy="4525962"/>
          </a:xfrm>
          <a:prstGeom prst="rect">
            <a:avLst/>
          </a:prstGeom>
        </p:spPr>
      </p:pic>
      <p:sp>
        <p:nvSpPr>
          <p:cNvPr id="1516830544" name=""/>
          <p:cNvSpPr txBox="1"/>
          <p:nvPr/>
        </p:nvSpPr>
        <p:spPr bwMode="auto">
          <a:xfrm rot="0" flipH="0" flipV="0">
            <a:off x="2566296" y="6099661"/>
            <a:ext cx="7306125" cy="38864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lang="it-IT"/>
              <a:t>Assortatività della Ln =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sty m:val="p"/>
                        </m:rPr>
                        <a:rPr lang="it-IT" sz="1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-0.13</m:t>
                      </m:r>
                    </m:oMath>
                  </m:oMathPara>
                </a14:m>
              </mc:Choice>
              <mc:Fallback/>
            </mc:AlternateContent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89200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 algn="l">
              <a:defRPr/>
            </a:pPr>
            <a:r>
              <a:rPr lang="it-IT"/>
              <a:t>Primo modello: </a:t>
            </a:r>
            <a:r>
              <a:rPr lang="it-IT" sz="3600"/>
              <a:t>Metriche</a:t>
            </a:r>
            <a:endParaRPr sz="3600"/>
          </a:p>
        </p:txBody>
      </p:sp>
      <p:pic>
        <p:nvPicPr>
          <p:cNvPr id="1436206148" name=""/>
          <p:cNvPicPr>
            <a:picLocks noChangeAspect="1"/>
          </p:cNvPicPr>
          <p:nvPr>
            <p:ph idx="1"/>
          </p:nvPr>
        </p:nvPicPr>
        <p:blipFill rotWithShape="1">
          <a:blip r:embed="rId3"/>
          <a:stretch/>
        </p:blipFill>
        <p:spPr bwMode="auto">
          <a:xfrm rot="0" flipH="0" flipV="0">
            <a:off x="609599" y="1657349"/>
            <a:ext cx="5521859" cy="3562349"/>
          </a:xfrm>
          <a:prstGeom prst="rect">
            <a:avLst/>
          </a:prstGeom>
        </p:spPr>
      </p:pic>
      <p:pic>
        <p:nvPicPr>
          <p:cNvPr id="1446689340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6205758" y="1657349"/>
            <a:ext cx="5376641" cy="3524185"/>
          </a:xfrm>
          <a:prstGeom prst="rect">
            <a:avLst/>
          </a:prstGeom>
        </p:spPr>
      </p:pic>
      <p:sp>
        <p:nvSpPr>
          <p:cNvPr id="1966113274" name=""/>
          <p:cNvSpPr txBox="1"/>
          <p:nvPr/>
        </p:nvSpPr>
        <p:spPr bwMode="auto">
          <a:xfrm rot="0" flipH="0" flipV="0">
            <a:off x="7057324" y="5476874"/>
            <a:ext cx="3673507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lang="it-IT"/>
              <a:t>Grado mediano della LN = 2</a:t>
            </a:r>
            <a:endParaRPr/>
          </a:p>
        </p:txBody>
      </p:sp>
      <p:sp>
        <p:nvSpPr>
          <p:cNvPr id="44410919" name=""/>
          <p:cNvSpPr txBox="1"/>
          <p:nvPr/>
        </p:nvSpPr>
        <p:spPr bwMode="auto">
          <a:xfrm rot="0" flipH="0" flipV="0">
            <a:off x="2255443" y="5476874"/>
            <a:ext cx="2675406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lang="it-IT"/>
              <a:t>Diametro della LN = 14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6199321" name="Title 1"/>
          <p:cNvSpPr>
            <a:spLocks noGrp="1"/>
          </p:cNvSpPr>
          <p:nvPr>
            <p:ph type="title"/>
          </p:nvPr>
        </p:nvSpPr>
        <p:spPr bwMode="auto">
          <a:xfrm>
            <a:off x="609599" y="274638"/>
            <a:ext cx="10972800" cy="1143000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/>
          </a:bodyPr>
          <a:lstStyle/>
          <a:p>
            <a:pPr algn="l">
              <a:defRPr/>
            </a:pPr>
            <a:r>
              <a:rPr lang="it-IT"/>
              <a:t>Secondo modello: </a:t>
            </a:r>
            <a:r>
              <a:rPr lang="it-IT" sz="3600"/>
              <a:t>Generazione della topologia</a:t>
            </a:r>
            <a:endParaRPr/>
          </a:p>
        </p:txBody>
      </p:sp>
      <p:sp>
        <p:nvSpPr>
          <p:cNvPr id="960137647" name="Content Placeholder 2"/>
          <p:cNvSpPr>
            <a:spLocks noGrp="1"/>
          </p:cNvSpPr>
          <p:nvPr>
            <p:ph idx="1"/>
          </p:nvPr>
        </p:nvSpPr>
        <p:spPr bwMode="auto">
          <a:xfrm>
            <a:off x="609599" y="1600200"/>
            <a:ext cx="10972800" cy="4525961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 marL="0" indent="0">
              <a:buFont typeface="Arial"/>
              <a:buNone/>
              <a:defRPr/>
            </a:pPr>
            <a:r>
              <a:rPr lang="it-IT" sz="2800"/>
              <a:t>A partire da una clique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lang="it-IT" sz="2800" u="none" strike="noStrike" cap="none" spc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it-IT" sz="2800" u="none" strike="noStrike" cap="none" spc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G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it-IT" sz="2800" u="none" strike="noStrike" cap="none" spc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0</m:t>
                          </m:r>
                        </m:sub>
                      </m:sSub>
                      <m:r>
                        <m:rPr/>
                        <a:rPr lang="it-IT" sz="2800" u="none" strike="noStrike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d>
                        <m:dPr>
                          <m:begChr m:val="("/>
                          <m:endChr m:val=")"/>
                          <m:ctrlPr>
                            <a:rPr lang="it-IT" sz="2800" u="none" strike="noStrike" cap="none" spc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it-IT" sz="2800" u="none" strike="noStrike" cap="none" spc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m:rPr/>
                                <a:rPr lang="it-IT" sz="2800" u="none" strike="noStrike" cap="none" spc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V</m:t>
                              </m:r>
                            </m:e>
                            <m:sub>
                              <m:r>
                                <m:rPr/>
                                <a:rPr lang="it-IT" sz="2800" u="none" strike="noStrike" cap="none" spc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0</m:t>
                              </m:r>
                            </m:sub>
                          </m:sSub>
                          <m:r>
                            <m:rPr/>
                            <a:rPr lang="it-IT" sz="2800" u="none" strike="noStrike" cap="none" spc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,</m:t>
                          </m:r>
                          <m:sSub>
                            <m:sSubPr>
                              <m:ctrlPr>
                                <a:rPr lang="it-IT" sz="2800" u="none" strike="noStrike" cap="none" spc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m:rPr/>
                                <a:rPr lang="it-IT" sz="2800" u="none" strike="noStrike" cap="none" spc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E</m:t>
                              </m:r>
                            </m:e>
                            <m:sub>
                              <m:r>
                                <m:rPr/>
                                <a:rPr lang="it-IT" sz="2800" u="none" strike="noStrike" cap="none" spc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0</m:t>
                              </m:r>
                            </m:sub>
                          </m:sSub>
                          <m:r>
                            <m:rPr/>
                            <a:rPr lang="it-IT" sz="2800" u="none" strike="noStrike" cap="none" spc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,w</m:t>
                          </m:r>
                        </m:e>
                      </m:d>
                    </m:oMath>
                  </m:oMathPara>
                </a14:m>
              </mc:Choice>
              <mc:Fallback/>
            </mc:AlternateContent>
            <a:r>
              <a:rPr lang="it-IT" sz="2800"/>
              <a:t> t.c.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sty m:val="p"/>
                        </m:rPr>
                        <a:rPr lang="it-IT" sz="2800" u="none" strike="noStrike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∀e∈E</m:t>
                      </m:r>
                    </m:oMath>
                  </m:oMathPara>
                </a14:m>
              </mc:Choice>
              <mc:Fallback/>
            </mc:AlternateContent>
            <a:r>
              <a:rPr lang="it-IT" sz="2800"/>
              <a:t> 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/>
                        <a:rPr lang="it-IT" sz="2800" u="none" strike="noStrike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w</m:t>
                      </m:r>
                      <m:d>
                        <m:dPr>
                          <m:begChr m:val="("/>
                          <m:endChr m:val=")"/>
                          <m:ctrlPr>
                            <a:rPr lang="it-IT" sz="2800" u="none" strike="noStrike" cap="none" spc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it-IT" sz="2800" u="none" strike="noStrike" cap="none" spc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e</m:t>
                          </m:r>
                        </m:e>
                      </m:d>
                      <m:r>
                        <m:rPr>
                          <m:sty m:val="p"/>
                        </m:rPr>
                        <a:rPr lang="it-IT" sz="2800" u="none" strike="noStrike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=c</m:t>
                      </m:r>
                    </m:oMath>
                  </m:oMathPara>
                </a14:m>
              </mc:Choice>
              <mc:Fallback/>
            </mc:AlternateContent>
            <a:r>
              <a:rPr lang="it-IT" sz="2800"/>
              <a:t> </a:t>
            </a:r>
            <a:endParaRPr lang="it-IT" sz="2800"/>
          </a:p>
          <a:p>
            <a:pPr marL="0" indent="0">
              <a:buFont typeface="Arial"/>
              <a:buNone/>
              <a:defRPr/>
            </a:pPr>
            <a:r>
              <a:rPr lang="it-IT" sz="2800"/>
              <a:t>ad ogni round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sty m:val="p"/>
                        </m:rPr>
                        <a:rPr lang="it-IT" sz="2800" u="none" strike="noStrike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i</m:t>
                      </m:r>
                    </m:oMath>
                  </m:oMathPara>
                </a14:m>
              </mc:Choice>
              <mc:Fallback/>
            </mc:AlternateContent>
            <a:r>
              <a:rPr lang="it-IT" sz="2800"/>
              <a:t> il grafo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lang="it-IT" sz="2800" u="none" strike="noStrike" cap="none" spc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it-IT" sz="2800" u="none" strike="noStrike" cap="none" spc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G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it-IT" sz="2800" u="none" strike="noStrike" cap="none" spc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i+1</m:t>
                          </m:r>
                        </m:sub>
                      </m:sSub>
                    </m:oMath>
                  </m:oMathPara>
                </a14:m>
              </mc:Choice>
              <mc:Fallback/>
            </mc:AlternateContent>
            <a:r>
              <a:rPr lang="it-IT" sz="2800"/>
              <a:t> verrà aggiornato in questo modo: </a:t>
            </a:r>
            <a:endParaRPr lang="it-IT" sz="2600"/>
          </a:p>
          <a:p>
            <a:pPr marL="0" indent="0">
              <a:buFont typeface="Arial"/>
              <a:buNone/>
              <a:defRPr/>
            </a:pPr>
            <a:endParaRPr lang="it-IT" sz="2600"/>
          </a:p>
          <a:p>
            <a:pPr marL="727986" lvl="1" indent="-327936">
              <a:buFont typeface="Arial"/>
              <a:buAutoNum type="arabicPeriod"/>
              <a:defRPr/>
            </a:pPr>
            <a:r>
              <a:rPr lang="it-IT" sz="2200"/>
              <a:t>Aggiungiamo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lang="it-IT" sz="2200" u="none" strike="noStrike" cap="none" spc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it-IT" sz="2200" u="none" strike="noStrike" cap="none" spc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it-IT" sz="2200" u="none" strike="noStrike" cap="none" spc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it-IT" sz="2200" u="none" strike="noStrike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~</m:t>
                      </m:r>
                      <m:r>
                        <m:rPr>
                          <m:sty m:val="p"/>
                        </m:rPr>
                        <a:rPr lang="it-IT" sz="2200" u="none" strike="noStrike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Geom</m:t>
                      </m:r>
                      <m:d>
                        <m:dPr>
                          <m:begChr m:val="("/>
                          <m:endChr m:val=")"/>
                          <m:ctrlPr>
                            <a:rPr lang="it-IT" sz="2200" u="none" strike="noStrike" cap="none" spc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box>
                            <m:boxPr>
                              <m:aln m:val="off"/>
                              <m:diff m:val="off"/>
                              <m:noBreak m:val="off"/>
                              <m:opEmu m:val="off"/>
                              <m:ctrlPr>
                                <a:rPr lang="it-IT" sz="2200" i="1" u="none" strike="noStrike" cap="none" spc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boxPr>
                            <m:e>
                              <m:argPr>
                                <m:argSz m:val="-1"/>
                              </m:argPr>
                              <m:f>
                                <m:fPr>
                                  <m:ctrlPr>
                                    <a:rPr lang="it-IT" sz="2200" i="1" u="none" strike="noStrike" cap="none" spc="0"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sty m:val="i"/>
                                    </m:rPr>
                                    <a:rPr lang="it-IT" sz="2200" u="none" strike="noStrike" cap="none" spc="0"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m:rPr>
                                      <m:sty m:val="i"/>
                                    </m:rPr>
                                    <a:rPr lang="it-IT" sz="2200" u="none" strike="noStrike" cap="none" spc="0"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10</m:t>
                                  </m:r>
                                </m:den>
                              </m:f>
                            </m:e>
                          </m:box>
                        </m:e>
                      </m:d>
                    </m:oMath>
                  </m:oMathPara>
                </a14:m>
              </mc:Choice>
              <mc:Fallback/>
            </mc:AlternateContent>
            <a:r>
              <a:rPr lang="it-IT" sz="2200"/>
              <a:t> nodi </a:t>
            </a:r>
            <a:endParaRPr lang="it-IT" sz="2200"/>
          </a:p>
          <a:p>
            <a:pPr marL="727986" lvl="1" indent="-327936">
              <a:buFont typeface="Arial"/>
              <a:buAutoNum type="arabicPeriod"/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sty m:val="p"/>
                        </m:rPr>
                        <a:rPr lang="it-IT" sz="2200" u="none" strike="noStrike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∀v</m:t>
                      </m:r>
                    </m:oMath>
                  </m:oMathPara>
                </a14:m>
              </mc:Choice>
              <mc:Fallback/>
            </mc:AlternateContent>
            <a:r>
              <a:rPr lang="it-IT" sz="2200"/>
              <a:t> nuovo nodo sceglie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sty m:val="p"/>
                        </m:rPr>
                        <a:rPr lang="it-IT" sz="2200" u="none" strike="noStrike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d</m:t>
                      </m:r>
                    </m:oMath>
                  </m:oMathPara>
                </a14:m>
              </mc:Choice>
              <mc:Fallback/>
            </mc:AlternateContent>
            <a:r>
              <a:rPr lang="it-IT" sz="2200"/>
              <a:t> nodi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lang="it-IT" sz="2200" u="none" strike="noStrike" cap="none" spc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it-IT" sz="2200" u="none" strike="noStrike" cap="none" spc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{u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it-IT" sz="2200" u="none" strike="noStrike" cap="none" spc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it-IT" sz="2200" u="none" strike="noStrike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,…,</m:t>
                      </m:r>
                      <m:sSub>
                        <m:sSubPr>
                          <m:ctrlPr>
                            <a:rPr lang="it-IT" sz="2200" u="none" strike="noStrike" cap="none" spc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it-IT" sz="2200" u="none" strike="noStrike" cap="none" spc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u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it-IT" sz="2200" u="none" strike="noStrike" cap="none" spc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d</m:t>
                          </m:r>
                        </m:sub>
                      </m:sSub>
                      <m:r>
                        <m:rPr/>
                        <a:rPr lang="it-IT" sz="2200" u="none" strike="noStrike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}</m:t>
                      </m:r>
                    </m:oMath>
                  </m:oMathPara>
                </a14:m>
              </mc:Choice>
              <mc:Fallback/>
            </mc:AlternateContent>
            <a:r>
              <a:rPr lang="it-IT" sz="2200"/>
              <a:t> a cui connettersi</a:t>
            </a:r>
            <a:r>
              <a:rPr lang="it-IT" sz="2200"/>
              <a:t> con prob. </a:t>
            </a:r>
            <a:r>
              <a:rPr lang="it-IT" sz="2200"/>
              <a:t>proporzionale alla capacità totale di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lang="it-IT" sz="2200" u="none" strike="noStrike" cap="none" spc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it-IT" sz="2200" u="none" strike="noStrike" cap="none" spc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u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it-IT" sz="2200" u="none" strike="noStrike" cap="none" spc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j </m:t>
                          </m:r>
                        </m:sub>
                      </m:sSub>
                    </m:oMath>
                  </m:oMathPara>
                </a14:m>
              </mc:Choice>
              <mc:Fallback/>
            </mc:AlternateContent>
            <a:r>
              <a:rPr lang="it-IT" sz="2200" b="0" i="0" u="none" strike="noStrike" cap="none" spc="0">
                <a:solidFill>
                  <a:srgbClr val="404040"/>
                </a:solidFill>
                <a:latin typeface="Arial"/>
                <a:ea typeface="Arial"/>
                <a:cs typeface="Arial"/>
              </a:rPr>
              <a:t>(nel nostro caso d = 6)</a:t>
            </a:r>
            <a:endParaRPr lang="it-IT" sz="2200"/>
          </a:p>
          <a:p>
            <a:pPr marL="727986" lvl="1" indent="-327936">
              <a:buFont typeface="Arial"/>
              <a:buAutoNum type="arabicPeriod"/>
              <a:defRPr/>
            </a:pPr>
            <a:r>
              <a:rPr lang="it-IT" sz="2200"/>
              <a:t>Ad ogni arco viene associata una capacità in base alla distribuzione scelta</a:t>
            </a:r>
            <a:endParaRPr lang="it-IT" sz="2200"/>
          </a:p>
          <a:p>
            <a:pPr marL="727986" lvl="1" indent="-327936">
              <a:buFont typeface="Arial"/>
              <a:buAutoNum type="arabicPeriod"/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sty m:val="p"/>
                        </m:rPr>
                        <a:rPr lang="it-IT" sz="2200" u="none" strike="noStrike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∀e</m:t>
                      </m:r>
                      <m:r>
                        <m:rPr>
                          <m:sty m:val="p"/>
                        </m:rPr>
                        <a:rPr lang="it-IT" sz="2200" u="none" strike="noStrike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=(u,v)∈</m:t>
                      </m:r>
                      <m:sSub>
                        <m:sSubPr>
                          <m:ctrlPr>
                            <a:rPr lang="it-IT" sz="2200" u="none" strike="noStrike" cap="none" spc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it-IT" sz="2200" u="none" strike="noStrike" cap="none" spc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E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it-IT" sz="2200" u="none" strike="noStrike" cap="none" spc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</m:sub>
                      </m:sSub>
                    </m:oMath>
                  </m:oMathPara>
                </a14:m>
              </mc:Choice>
              <mc:Fallback/>
            </mc:AlternateContent>
            <a:r>
              <a:rPr lang="it-IT" sz="2200"/>
              <a:t> </a:t>
            </a:r>
            <a:r>
              <a:rPr lang="it-IT" sz="22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 ha una prob. di scomparire: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p>
                        <m:sSupPr>
                          <m:ctrlPr>
                            <a:rPr lang="en-US" sz="2800" u="none" strike="noStrike" cap="none" spc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2800" u="none" strike="noStrike" cap="none" spc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800" u="none" strike="noStrike" cap="none" spc="0"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sty m:val="i"/>
                                    </m:rPr>
                                    <a:rPr lang="en-US" sz="2800" u="none" strike="noStrike" cap="none" spc="0"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w</m:t>
                                  </m:r>
                                  <m:d>
                                    <m:dPr>
                                      <m:begChr m:val="("/>
                                      <m:endChr m:val=")"/>
                                      <m:ctrlPr>
                                        <a:rPr lang="en-US" sz="2800" u="none" strike="noStrike" cap="none" spc="0"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</a:schemeClr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dPr>
                                    <m:e>
                                      <m:r>
                                        <m:rPr>
                                          <m:sty m:val="i"/>
                                        </m:rPr>
                                        <a:rPr lang="en-US" sz="2800" u="none" strike="noStrike" cap="none" spc="0"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</a:schemeClr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e</m:t>
                                      </m:r>
                                    </m:e>
                                  </m:d>
                                </m:num>
                                <m:den>
                                  <m:r>
                                    <m:rPr>
                                      <m:sty m:val="i"/>
                                    </m:rPr>
                                    <a:rPr lang="en-US" sz="2800" u="none" strike="noStrike" cap="none" spc="0"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w</m:t>
                                  </m:r>
                                  <m:d>
                                    <m:dPr>
                                      <m:begChr m:val="("/>
                                      <m:endChr m:val=")"/>
                                      <m:ctrlPr>
                                        <a:rPr lang="en-US" sz="2800" u="none" strike="noStrike" cap="none" spc="0"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</a:schemeClr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dPr>
                                    <m:e>
                                      <m:r>
                                        <m:rPr>
                                          <m:sty m:val="i"/>
                                        </m:rPr>
                                        <a:rPr lang="en-US" sz="2800" u="none" strike="noStrike" cap="none" spc="0"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</a:schemeClr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u</m:t>
                                      </m:r>
                                    </m:e>
                                  </m:d>
                                  <m:r>
                                    <m:rPr>
                                      <m:sty m:val="i"/>
                                    </m:rPr>
                                    <a:rPr lang="en-US" sz="2800" u="none" strike="noStrike" cap="none" spc="0"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+w</m:t>
                                  </m:r>
                                  <m:d>
                                    <m:dPr>
                                      <m:begChr m:val="("/>
                                      <m:endChr m:val=")"/>
                                      <m:ctrlPr>
                                        <a:rPr lang="en-US" sz="2800" u="none" strike="noStrike" cap="none" spc="0"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</a:schemeClr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dPr>
                                    <m:e>
                                      <m:r>
                                        <m:rPr>
                                          <m:sty m:val="i"/>
                                        </m:rPr>
                                        <a:rPr lang="en-US" sz="2800" u="none" strike="noStrike" cap="none" spc="0"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</a:schemeClr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v</m:t>
                                      </m:r>
                                    </m:e>
                                  </m:d>
                                </m:den>
                              </m:f>
                            </m:e>
                          </m:d>
                        </m:e>
                        <m:sup>
                          <m:r>
                            <m:rPr>
                              <m:sty m:val="p"/>
                            </m:rPr>
                            <a:rPr lang="en-US" sz="2800" u="none" strike="noStrike" cap="none" spc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β</m:t>
                          </m:r>
                        </m:sup>
                      </m:sSup>
                    </m:oMath>
                  </m:oMathPara>
                </a14:m>
              </mc:Choice>
              <mc:Fallback/>
            </mc:AlternateContent>
            <a:endParaRPr sz="2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1973876" name="Title 1"/>
          <p:cNvSpPr>
            <a:spLocks noGrp="1"/>
          </p:cNvSpPr>
          <p:nvPr>
            <p:ph type="title"/>
          </p:nvPr>
        </p:nvSpPr>
        <p:spPr bwMode="auto">
          <a:xfrm>
            <a:off x="609599" y="274638"/>
            <a:ext cx="10972800" cy="1143000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/>
          </a:bodyPr>
          <a:lstStyle/>
          <a:p>
            <a:pPr algn="l">
              <a:defRPr/>
            </a:pPr>
            <a:r>
              <a:rPr lang="it-IT" sz="4400"/>
              <a:t>Secondo modello - Binomiale</a:t>
            </a:r>
            <a:r>
              <a:rPr lang="it-IT"/>
              <a:t>: </a:t>
            </a:r>
            <a:r>
              <a:rPr lang="it-IT" sz="3600"/>
              <a:t>Gradi nei nodi</a:t>
            </a:r>
            <a:endParaRPr/>
          </a:p>
        </p:txBody>
      </p:sp>
      <p:pic>
        <p:nvPicPr>
          <p:cNvPr id="311008438" name=""/>
          <p:cNvPicPr>
            <a:picLocks noChangeAspect="1"/>
          </p:cNvPicPr>
          <p:nvPr>
            <p:ph idx="1"/>
          </p:nvPr>
        </p:nvPicPr>
        <p:blipFill rotWithShape="1">
          <a:blip r:embed="rId3"/>
          <a:stretch/>
        </p:blipFill>
        <p:spPr bwMode="auto">
          <a:xfrm rot="0" flipH="0" flipV="0">
            <a:off x="756724" y="1676399"/>
            <a:ext cx="4843922" cy="3829050"/>
          </a:xfrm>
          <a:prstGeom prst="rect">
            <a:avLst/>
          </a:prstGeom>
        </p:spPr>
      </p:pic>
      <p:pic>
        <p:nvPicPr>
          <p:cNvPr id="2040146043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6595499" y="1635352"/>
            <a:ext cx="4895849" cy="3870097"/>
          </a:xfrm>
          <a:prstGeom prst="rect">
            <a:avLst/>
          </a:prstGeom>
        </p:spPr>
      </p:pic>
      <p:sp>
        <p:nvSpPr>
          <p:cNvPr id="238862210" name=""/>
          <p:cNvSpPr txBox="1"/>
          <p:nvPr/>
        </p:nvSpPr>
        <p:spPr bwMode="auto">
          <a:xfrm rot="0" flipH="0" flipV="0">
            <a:off x="918598" y="5486400"/>
            <a:ext cx="4239900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lang="it-IT"/>
              <a:t>Distribuzione nella LN</a:t>
            </a:r>
            <a:endParaRPr/>
          </a:p>
        </p:txBody>
      </p:sp>
      <p:sp>
        <p:nvSpPr>
          <p:cNvPr id="1244211977" name=""/>
          <p:cNvSpPr txBox="1"/>
          <p:nvPr/>
        </p:nvSpPr>
        <p:spPr bwMode="auto">
          <a:xfrm rot="0" flipH="0" flipV="0">
            <a:off x="7085450" y="5486400"/>
            <a:ext cx="4248180" cy="666085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lang="it-IT"/>
              <a:t>Distribuzione nel grafo generato</a:t>
            </a:r>
            <a:endParaRPr/>
          </a:p>
          <a:p>
            <a:pPr algn="ctr">
              <a:defRPr/>
            </a:pPr>
            <a:r>
              <a:rPr lang="it-IT" sz="18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sty m:val="p"/>
                        </m:rPr>
                        <a:rPr lang="it-IT" sz="1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β=3</m:t>
                      </m:r>
                    </m:oMath>
                  </m:oMathPara>
                </a14:m>
              </mc:Choice>
              <mc:Fallback/>
            </mc:AlternateContent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926872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 algn="l">
              <a:defRPr/>
            </a:pPr>
            <a:r>
              <a:rPr lang="it-IT"/>
              <a:t>Secondo modello - Binomiale: </a:t>
            </a:r>
            <a:r>
              <a:rPr lang="it-IT" sz="3600"/>
              <a:t>Capacità</a:t>
            </a:r>
            <a:endParaRPr/>
          </a:p>
        </p:txBody>
      </p:sp>
      <p:pic>
        <p:nvPicPr>
          <p:cNvPr id="562119700" name=""/>
          <p:cNvPicPr>
            <a:picLocks noChangeAspect="1"/>
          </p:cNvPicPr>
          <p:nvPr>
            <p:ph idx="1"/>
          </p:nvPr>
        </p:nvPicPr>
        <p:blipFill rotWithShape="1">
          <a:blip r:embed="rId3"/>
          <a:stretch/>
        </p:blipFill>
        <p:spPr bwMode="auto">
          <a:xfrm rot="0" flipH="0" flipV="0">
            <a:off x="609599" y="1649336"/>
            <a:ext cx="5014349" cy="3924377"/>
          </a:xfrm>
          <a:prstGeom prst="rect">
            <a:avLst/>
          </a:prstGeom>
        </p:spPr>
      </p:pic>
      <p:pic>
        <p:nvPicPr>
          <p:cNvPr id="1704786036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6652567" y="1649336"/>
            <a:ext cx="5014349" cy="3924377"/>
          </a:xfrm>
          <a:prstGeom prst="rect">
            <a:avLst/>
          </a:prstGeom>
        </p:spPr>
      </p:pic>
      <p:sp>
        <p:nvSpPr>
          <p:cNvPr id="1584515722" name=""/>
          <p:cNvSpPr txBox="1"/>
          <p:nvPr/>
        </p:nvSpPr>
        <p:spPr bwMode="auto">
          <a:xfrm rot="0" flipH="0" flipV="0">
            <a:off x="918598" y="5486400"/>
            <a:ext cx="4240260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lang="it-IT"/>
              <a:t>Distribuzione nella LN</a:t>
            </a:r>
            <a:endParaRPr/>
          </a:p>
        </p:txBody>
      </p:sp>
      <p:sp>
        <p:nvSpPr>
          <p:cNvPr id="428294455" name=""/>
          <p:cNvSpPr txBox="1"/>
          <p:nvPr/>
        </p:nvSpPr>
        <p:spPr bwMode="auto">
          <a:xfrm rot="0" flipH="0" flipV="0">
            <a:off x="7085450" y="5486400"/>
            <a:ext cx="4248540" cy="666085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lang="it-IT"/>
              <a:t>Distribuzione nel grafo generato</a:t>
            </a:r>
            <a:endParaRPr/>
          </a:p>
          <a:p>
            <a:pPr algn="ctr">
              <a:defRPr/>
            </a:pPr>
            <a:r>
              <a:rPr lang="it-IT" sz="18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sty m:val="p"/>
                        </m:rPr>
                        <a:rPr lang="it-IT" sz="1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β=3</m:t>
                      </m:r>
                    </m:oMath>
                  </m:oMathPara>
                </a14:m>
              </mc:Choice>
              <mc:Fallback/>
            </mc:AlternateContent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529937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 algn="l">
              <a:defRPr/>
            </a:pPr>
            <a:r>
              <a:rPr lang="it-IT"/>
              <a:t>Secondo modello - Binomiale: </a:t>
            </a:r>
            <a:r>
              <a:rPr lang="it-IT" sz="3600"/>
              <a:t>Assortatività</a:t>
            </a:r>
            <a:endParaRPr sz="3600"/>
          </a:p>
        </p:txBody>
      </p:sp>
      <p:pic>
        <p:nvPicPr>
          <p:cNvPr id="310184371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2509010" y="1590322"/>
            <a:ext cx="7173978" cy="4570833"/>
          </a:xfrm>
          <a:prstGeom prst="rect">
            <a:avLst/>
          </a:prstGeom>
        </p:spPr>
      </p:pic>
      <p:sp>
        <p:nvSpPr>
          <p:cNvPr id="562963959" name=""/>
          <p:cNvSpPr txBox="1"/>
          <p:nvPr/>
        </p:nvSpPr>
        <p:spPr bwMode="auto">
          <a:xfrm rot="0" flipH="0" flipV="0">
            <a:off x="2566297" y="6099662"/>
            <a:ext cx="7305767" cy="38864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lang="it-IT"/>
              <a:t>Assortatività della Ln =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sty m:val="p"/>
                        </m:rPr>
                        <a:rPr lang="it-IT" sz="1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-0.13</m:t>
                      </m:r>
                    </m:oMath>
                  </m:oMathPara>
                </a14:m>
              </mc:Choice>
              <mc:Fallback/>
            </mc:AlternateContent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1180553" name="Title 1"/>
          <p:cNvSpPr>
            <a:spLocks noGrp="1"/>
          </p:cNvSpPr>
          <p:nvPr>
            <p:ph type="title"/>
          </p:nvPr>
        </p:nvSpPr>
        <p:spPr bwMode="auto">
          <a:xfrm>
            <a:off x="609599" y="274638"/>
            <a:ext cx="10972800" cy="1143000"/>
          </a:xfrm>
        </p:spPr>
        <p:txBody>
          <a:bodyPr/>
          <a:lstStyle/>
          <a:p>
            <a:pPr algn="l">
              <a:defRPr/>
            </a:pPr>
            <a:r>
              <a:rPr lang="it-IT"/>
              <a:t>Secondo modello - Binomiale: </a:t>
            </a:r>
            <a:r>
              <a:rPr lang="it-IT" sz="3600"/>
              <a:t>Metriche</a:t>
            </a:r>
            <a:endParaRPr sz="3600"/>
          </a:p>
        </p:txBody>
      </p:sp>
      <p:pic>
        <p:nvPicPr>
          <p:cNvPr id="2133070965" name=""/>
          <p:cNvPicPr>
            <a:picLocks noChangeAspect="1"/>
          </p:cNvPicPr>
          <p:nvPr>
            <p:ph idx="1"/>
          </p:nvPr>
        </p:nvPicPr>
        <p:blipFill rotWithShape="1">
          <a:blip r:embed="rId3"/>
          <a:stretch/>
        </p:blipFill>
        <p:spPr bwMode="auto">
          <a:xfrm rot="0" flipH="0" flipV="0">
            <a:off x="609599" y="1959007"/>
            <a:ext cx="5071499" cy="3271806"/>
          </a:xfrm>
          <a:prstGeom prst="rect">
            <a:avLst/>
          </a:prstGeom>
        </p:spPr>
      </p:pic>
      <p:pic>
        <p:nvPicPr>
          <p:cNvPr id="817862029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6385949" y="1959007"/>
            <a:ext cx="4991099" cy="3271476"/>
          </a:xfrm>
          <a:prstGeom prst="rect">
            <a:avLst/>
          </a:prstGeom>
        </p:spPr>
      </p:pic>
      <p:sp>
        <p:nvSpPr>
          <p:cNvPr id="543468000" name=""/>
          <p:cNvSpPr txBox="1"/>
          <p:nvPr/>
        </p:nvSpPr>
        <p:spPr bwMode="auto">
          <a:xfrm rot="0" flipH="0" flipV="0">
            <a:off x="7057323" y="5476873"/>
            <a:ext cx="3673866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lang="it-IT"/>
              <a:t>Grado mediano della LN = 2</a:t>
            </a:r>
            <a:endParaRPr/>
          </a:p>
        </p:txBody>
      </p:sp>
      <p:sp>
        <p:nvSpPr>
          <p:cNvPr id="1914876706" name=""/>
          <p:cNvSpPr txBox="1"/>
          <p:nvPr/>
        </p:nvSpPr>
        <p:spPr bwMode="auto">
          <a:xfrm rot="0" flipH="0" flipV="0">
            <a:off x="2255442" y="5476873"/>
            <a:ext cx="2675765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lang="it-IT"/>
              <a:t>Diametro della LN = 14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9313820" name="Title 1"/>
          <p:cNvSpPr>
            <a:spLocks noGrp="1"/>
          </p:cNvSpPr>
          <p:nvPr>
            <p:ph type="title"/>
          </p:nvPr>
        </p:nvSpPr>
        <p:spPr bwMode="auto">
          <a:xfrm>
            <a:off x="609599" y="274638"/>
            <a:ext cx="10972800" cy="1143000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/>
          </a:bodyPr>
          <a:lstStyle/>
          <a:p>
            <a:pPr algn="l">
              <a:defRPr/>
            </a:pPr>
            <a:r>
              <a:rPr lang="it-IT" sz="4400"/>
              <a:t>Secondo modello - </a:t>
            </a:r>
            <a:r>
              <a:rPr lang="it-IT" sz="4400"/>
              <a:t>PowerLaw</a:t>
            </a:r>
            <a:r>
              <a:rPr lang="it-IT"/>
              <a:t>: </a:t>
            </a:r>
            <a:r>
              <a:rPr lang="it-IT" sz="3600"/>
              <a:t>Gradi nei nodi</a:t>
            </a:r>
            <a:endParaRPr/>
          </a:p>
        </p:txBody>
      </p:sp>
      <p:pic>
        <p:nvPicPr>
          <p:cNvPr id="776620078" name=""/>
          <p:cNvPicPr>
            <a:picLocks noChangeAspect="1"/>
          </p:cNvPicPr>
          <p:nvPr>
            <p:ph idx="1"/>
          </p:nvPr>
        </p:nvPicPr>
        <p:blipFill rotWithShape="1">
          <a:blip r:embed="rId3"/>
          <a:stretch/>
        </p:blipFill>
        <p:spPr bwMode="auto">
          <a:xfrm rot="0" flipH="0" flipV="0">
            <a:off x="756724" y="1676399"/>
            <a:ext cx="4843922" cy="3829050"/>
          </a:xfrm>
          <a:prstGeom prst="rect">
            <a:avLst/>
          </a:prstGeom>
        </p:spPr>
      </p:pic>
      <p:sp>
        <p:nvSpPr>
          <p:cNvPr id="998724030" name=""/>
          <p:cNvSpPr txBox="1"/>
          <p:nvPr/>
        </p:nvSpPr>
        <p:spPr bwMode="auto">
          <a:xfrm rot="0" flipH="0" flipV="0">
            <a:off x="918598" y="5486400"/>
            <a:ext cx="4239900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lang="it-IT"/>
              <a:t>Distribuzione nella LN</a:t>
            </a:r>
            <a:endParaRPr/>
          </a:p>
        </p:txBody>
      </p:sp>
      <p:sp>
        <p:nvSpPr>
          <p:cNvPr id="736839430" name=""/>
          <p:cNvSpPr txBox="1"/>
          <p:nvPr/>
        </p:nvSpPr>
        <p:spPr bwMode="auto">
          <a:xfrm rot="0" flipH="0" flipV="0">
            <a:off x="7085450" y="5486400"/>
            <a:ext cx="4248180" cy="666085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lang="it-IT"/>
              <a:t>Distribuzione nel grafo generato</a:t>
            </a:r>
            <a:endParaRPr lang="it-IT"/>
          </a:p>
          <a:p>
            <a:pPr algn="ctr">
              <a:defRPr/>
            </a:pPr>
            <a:r>
              <a:rPr lang="it-IT" sz="18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sty m:val="p"/>
                        </m:rPr>
                        <a:rPr lang="it-IT" sz="1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β=3</m:t>
                      </m:r>
                    </m:oMath>
                  </m:oMathPara>
                </a14:m>
              </mc:Choice>
              <mc:Fallback/>
            </mc:AlternateContent>
            <a:endParaRPr/>
          </a:p>
        </p:txBody>
      </p:sp>
      <p:pic>
        <p:nvPicPr>
          <p:cNvPr id="1730938553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6835330" y="1733411"/>
            <a:ext cx="4747701" cy="375298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9233503" name="Title 1"/>
          <p:cNvSpPr>
            <a:spLocks noGrp="1"/>
          </p:cNvSpPr>
          <p:nvPr>
            <p:ph type="title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/>
          </a:bodyPr>
          <a:lstStyle/>
          <a:p>
            <a:pPr algn="l">
              <a:defRPr/>
            </a:pPr>
            <a:r>
              <a:rPr lang="it-IT"/>
              <a:t>Secondo modello - PowerLaw: </a:t>
            </a:r>
            <a:r>
              <a:rPr lang="it-IT" sz="3600"/>
              <a:t>Capacità</a:t>
            </a:r>
            <a:endParaRPr/>
          </a:p>
        </p:txBody>
      </p:sp>
      <p:pic>
        <p:nvPicPr>
          <p:cNvPr id="1666144017" name=""/>
          <p:cNvPicPr>
            <a:picLocks noChangeAspect="1"/>
          </p:cNvPicPr>
          <p:nvPr>
            <p:ph idx="1"/>
          </p:nvPr>
        </p:nvPicPr>
        <p:blipFill rotWithShape="1">
          <a:blip r:embed="rId3"/>
          <a:stretch/>
        </p:blipFill>
        <p:spPr bwMode="auto">
          <a:xfrm rot="0" flipH="0" flipV="0">
            <a:off x="766198" y="1639855"/>
            <a:ext cx="4914900" cy="3846544"/>
          </a:xfrm>
          <a:prstGeom prst="rect">
            <a:avLst/>
          </a:prstGeom>
        </p:spPr>
      </p:pic>
      <p:sp>
        <p:nvSpPr>
          <p:cNvPr id="359055954" name=""/>
          <p:cNvSpPr txBox="1"/>
          <p:nvPr/>
        </p:nvSpPr>
        <p:spPr bwMode="auto">
          <a:xfrm rot="0" flipH="0" flipV="0">
            <a:off x="918598" y="5486400"/>
            <a:ext cx="4240260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lang="it-IT"/>
              <a:t>Distribuzione nella LN</a:t>
            </a:r>
            <a:endParaRPr/>
          </a:p>
        </p:txBody>
      </p:sp>
      <p:sp>
        <p:nvSpPr>
          <p:cNvPr id="1875580959" name=""/>
          <p:cNvSpPr txBox="1"/>
          <p:nvPr/>
        </p:nvSpPr>
        <p:spPr bwMode="auto">
          <a:xfrm rot="0" flipH="0" flipV="0">
            <a:off x="7085450" y="5486400"/>
            <a:ext cx="4248540" cy="666085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lang="it-IT"/>
              <a:t>Distribuzione nel grafo generato</a:t>
            </a:r>
            <a:endParaRPr lang="it-IT"/>
          </a:p>
          <a:p>
            <a:pPr algn="ctr">
              <a:defRPr/>
            </a:pPr>
            <a:r>
              <a:rPr lang="it-IT" sz="18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sty m:val="p"/>
                        </m:rPr>
                        <a:rPr lang="it-IT" sz="1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β=3</m:t>
                      </m:r>
                    </m:oMath>
                  </m:oMathPara>
                </a14:m>
              </mc:Choice>
              <mc:Fallback/>
            </mc:AlternateContent>
            <a:endParaRPr/>
          </a:p>
        </p:txBody>
      </p:sp>
      <p:pic>
        <p:nvPicPr>
          <p:cNvPr id="1839924695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6591299" y="1651476"/>
            <a:ext cx="4900048" cy="383492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523512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 algn="l">
              <a:defRPr/>
            </a:pPr>
            <a:r>
              <a:rPr lang="it-IT"/>
              <a:t>Secondo modello - PowerLaw: </a:t>
            </a:r>
            <a:r>
              <a:rPr lang="it-IT" sz="3600"/>
              <a:t>Assortatività</a:t>
            </a:r>
            <a:endParaRPr sz="3600"/>
          </a:p>
        </p:txBody>
      </p:sp>
      <p:pic>
        <p:nvPicPr>
          <p:cNvPr id="1645829167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2413759" y="1590322"/>
            <a:ext cx="7173978" cy="4570833"/>
          </a:xfrm>
          <a:prstGeom prst="rect">
            <a:avLst/>
          </a:prstGeom>
        </p:spPr>
      </p:pic>
      <p:sp>
        <p:nvSpPr>
          <p:cNvPr id="975884909" name=""/>
          <p:cNvSpPr txBox="1"/>
          <p:nvPr/>
        </p:nvSpPr>
        <p:spPr bwMode="auto">
          <a:xfrm rot="0" flipH="0" flipV="0">
            <a:off x="2566296" y="6099661"/>
            <a:ext cx="7306125" cy="38864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lang="it-IT"/>
              <a:t>Assortatività della Ln =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sty m:val="p"/>
                        </m:rPr>
                        <a:rPr lang="it-IT" sz="1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-0.13</m:t>
                      </m:r>
                    </m:oMath>
                  </m:oMathPara>
                </a14:m>
              </mc:Choice>
              <mc:Fallback/>
            </mc:AlternateContent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0886069" name="Title 1"/>
          <p:cNvSpPr>
            <a:spLocks noGrp="1"/>
          </p:cNvSpPr>
          <p:nvPr>
            <p:ph type="title"/>
          </p:nvPr>
        </p:nvSpPr>
        <p:spPr bwMode="auto">
          <a:xfrm>
            <a:off x="609599" y="274638"/>
            <a:ext cx="10972800" cy="1143000"/>
          </a:xfrm>
        </p:spPr>
        <p:txBody>
          <a:bodyPr/>
          <a:lstStyle/>
          <a:p>
            <a:pPr algn="l">
              <a:defRPr/>
            </a:pPr>
            <a:r>
              <a:rPr lang="it-IT"/>
              <a:t>Secondo modello - PowerLaw: </a:t>
            </a:r>
            <a:r>
              <a:rPr lang="it-IT" sz="3600"/>
              <a:t>Metriche</a:t>
            </a:r>
            <a:endParaRPr sz="3600"/>
          </a:p>
        </p:txBody>
      </p:sp>
      <p:pic>
        <p:nvPicPr>
          <p:cNvPr id="1363747354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609599" y="1907849"/>
            <a:ext cx="5147699" cy="3374122"/>
          </a:xfrm>
          <a:prstGeom prst="rect">
            <a:avLst/>
          </a:prstGeom>
        </p:spPr>
      </p:pic>
      <p:pic>
        <p:nvPicPr>
          <p:cNvPr id="1492800525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6296686" y="1907849"/>
            <a:ext cx="5285713" cy="3374122"/>
          </a:xfrm>
          <a:prstGeom prst="rect">
            <a:avLst/>
          </a:prstGeom>
        </p:spPr>
      </p:pic>
      <p:sp>
        <p:nvSpPr>
          <p:cNvPr id="2038900399" name=""/>
          <p:cNvSpPr txBox="1"/>
          <p:nvPr/>
        </p:nvSpPr>
        <p:spPr bwMode="auto">
          <a:xfrm rot="0" flipH="0" flipV="0">
            <a:off x="7057323" y="5476873"/>
            <a:ext cx="3673866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lang="it-IT"/>
              <a:t>Grado mediano della LN = 2</a:t>
            </a:r>
            <a:endParaRPr/>
          </a:p>
        </p:txBody>
      </p:sp>
      <p:sp>
        <p:nvSpPr>
          <p:cNvPr id="138452621" name=""/>
          <p:cNvSpPr txBox="1"/>
          <p:nvPr/>
        </p:nvSpPr>
        <p:spPr bwMode="auto">
          <a:xfrm rot="0" flipH="0" flipV="0">
            <a:off x="2255442" y="5476873"/>
            <a:ext cx="2675765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lang="it-IT"/>
              <a:t>Diametro della LN = 14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828316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 algn="l">
              <a:defRPr/>
            </a:pPr>
            <a:r>
              <a:rPr lang="it-IT"/>
              <a:t>Secondo modello - Congiunta </a:t>
            </a:r>
            <a:endParaRPr/>
          </a:p>
        </p:txBody>
      </p:sp>
      <p:sp>
        <p:nvSpPr>
          <p:cNvPr id="1084241409" name="Content Placeholder 2"/>
          <p:cNvSpPr>
            <a:spLocks noGrp="1"/>
          </p:cNvSpPr>
          <p:nvPr>
            <p:ph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95000" lnSpcReduction="1000"/>
          </a:bodyPr>
          <a:lstStyle/>
          <a:p>
            <a:pPr marL="0" indent="0">
              <a:buFont typeface="Arial"/>
              <a:buNone/>
              <a:defRPr/>
            </a:pPr>
            <a:r>
              <a:rPr lang="it-IT"/>
              <a:t>Da diversi studi è risultato che la distribuzione delle capacità dei canali sia una distribuzione congiunta:</a:t>
            </a:r>
            <a:endParaRPr lang="it-IT"/>
          </a:p>
          <a:p>
            <a:pPr lvl="1">
              <a:buFont typeface="Arial"/>
              <a:buChar char="•"/>
              <a:defRPr/>
            </a:pPr>
            <a:r>
              <a:rPr lang="it-IT"/>
              <a:t>con massa </a:t>
            </a:r>
            <a:r>
              <a:rPr lang="it-IT" sz="28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rPr>
              <a:t>una logNormal</a:t>
            </a:r>
            <a:endParaRPr lang="it-IT"/>
          </a:p>
          <a:p>
            <a:pPr lvl="1">
              <a:buFont typeface="Arial"/>
              <a:buChar char="•"/>
              <a:defRPr/>
            </a:pPr>
            <a:r>
              <a:rPr lang="it-IT"/>
              <a:t>con coda una</a:t>
            </a:r>
            <a:r>
              <a:rPr lang="it-IT" sz="28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rPr>
              <a:t> powerLaw</a:t>
            </a:r>
            <a:endParaRPr lang="it-IT" sz="2800" b="0" i="0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Arial"/>
              <a:cs typeface="Arial"/>
            </a:endParaRPr>
          </a:p>
          <a:p>
            <a:pPr marL="0" lvl="0" indent="0">
              <a:buFont typeface="Arial"/>
              <a:buNone/>
              <a:defRPr/>
            </a:pPr>
            <a:endParaRPr lang="it-IT" sz="3200" b="0" i="0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Arial"/>
              <a:cs typeface="Arial"/>
            </a:endParaRPr>
          </a:p>
          <a:p>
            <a:pPr marL="0" lvl="0" indent="0">
              <a:buFont typeface="Arial"/>
              <a:buNone/>
              <a:defRPr/>
            </a:pPr>
            <a:r>
              <a:rPr lang="it-IT" sz="32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Data la natura congiunta della distribuzione è stato necessario utilizzare il metodo clauset per la stima dei parametri </a:t>
            </a:r>
            <a:endParaRPr lang="it-IT" sz="3200" b="0" i="0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Arial"/>
              <a:cs typeface="Arial"/>
            </a:endParaRPr>
          </a:p>
          <a:p>
            <a:pPr marL="0" lvl="0" indent="0">
              <a:buFont typeface="Arial"/>
              <a:buNone/>
              <a:defRPr/>
            </a:pPr>
            <a:endParaRPr lang="it-IT" sz="2800" b="0" i="0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Times New Roman"/>
              <a:cs typeface="Times New Roman"/>
            </a:endParaRPr>
          </a:p>
          <a:p>
            <a:pPr marL="0" lvl="0" indent="0">
              <a:buFont typeface="Arial"/>
              <a:buNone/>
              <a:defRPr/>
            </a:pPr>
            <a:endParaRPr lang="it-IT" sz="3200" b="0" i="0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Arial"/>
              <a:cs typeface="Arial"/>
            </a:endParaRPr>
          </a:p>
          <a:p>
            <a:pPr lvl="1">
              <a:buFont typeface="Arial"/>
              <a:buChar char="•"/>
              <a:defRPr/>
            </a:pPr>
            <a:endParaRPr/>
          </a:p>
        </p:txBody>
      </p:sp>
      <p:sp>
        <p:nvSpPr>
          <p:cNvPr id="1075000492" name=""/>
          <p:cNvSpPr txBox="1"/>
          <p:nvPr/>
        </p:nvSpPr>
        <p:spPr bwMode="auto">
          <a:xfrm rot="0" flipH="0" flipV="0">
            <a:off x="697932" y="6126162"/>
            <a:ext cx="10415749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it-IT"/>
              <a:t>Metodo Clauset descritto all’interno di :</a:t>
            </a:r>
            <a:endParaRPr lang="it-IT"/>
          </a:p>
          <a:p>
            <a:pPr>
              <a:defRPr/>
            </a:pPr>
            <a:r>
              <a:rPr lang="it-IT" sz="1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		</a:t>
            </a:r>
            <a:r>
              <a:rPr lang="it-IT" sz="18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POWER-LAW DISTRIBUTIONS IN EMPIRICAL DATA</a:t>
            </a:r>
            <a:endParaRPr lang="it-IT" sz="1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89907315" name=""/>
          <p:cNvSpPr txBox="1"/>
          <p:nvPr/>
        </p:nvSpPr>
        <p:spPr bwMode="auto">
          <a:xfrm rot="0" flipH="0" flipV="0">
            <a:off x="697932" y="5129510"/>
            <a:ext cx="10436268" cy="9147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it-IT"/>
              <a:t>Distribuzione mostrata in:</a:t>
            </a:r>
            <a:endParaRPr lang="it-IT"/>
          </a:p>
          <a:p>
            <a:pPr algn="ctr">
              <a:defRPr/>
            </a:pPr>
            <a:r>
              <a:rPr lang="it-IT" sz="18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The evolving topology of the Lightning</a:t>
            </a:r>
            <a:r>
              <a:rPr lang="it-IT" sz="18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Network: Centralization, efficiency,</a:t>
            </a:r>
            <a:r>
              <a:rPr lang="it-IT" sz="18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robustness synchronization, and anonymity</a:t>
            </a:r>
            <a:endParaRPr lang="it-IT" sz="1800" b="0" i="0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0534682" name="Title 1"/>
          <p:cNvSpPr>
            <a:spLocks noGrp="1"/>
          </p:cNvSpPr>
          <p:nvPr>
            <p:ph type="title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 fontScale="95000" lnSpcReduction="1000"/>
          </a:bodyPr>
          <a:lstStyle/>
          <a:p>
            <a:pPr algn="l">
              <a:defRPr/>
            </a:pPr>
            <a:r>
              <a:rPr lang="it-IT"/>
              <a:t>Secondo modello - Congiunta: </a:t>
            </a:r>
            <a:r>
              <a:rPr lang="it-IT" sz="3600"/>
              <a:t>Clauset’s</a:t>
            </a:r>
            <a:r>
              <a:rPr lang="it-IT"/>
              <a:t> </a:t>
            </a:r>
            <a:r>
              <a:rPr lang="it-IT" sz="3600"/>
              <a:t>method</a:t>
            </a:r>
            <a:endParaRPr sz="3600"/>
          </a:p>
        </p:txBody>
      </p:sp>
      <p:sp>
        <p:nvSpPr>
          <p:cNvPr id="177867040" name="Content Placeholder 2"/>
          <p:cNvSpPr>
            <a:spLocks noGrp="1"/>
          </p:cNvSpPr>
          <p:nvPr>
            <p:ph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90000" lnSpcReduction="2000"/>
          </a:bodyPr>
          <a:lstStyle/>
          <a:p>
            <a:pPr marL="0" indent="0">
              <a:buFont typeface="Arial"/>
              <a:buNone/>
              <a:defRPr/>
            </a:pPr>
            <a:r>
              <a:rPr lang="it-IT"/>
              <a:t>Per ogni possibile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lang="it-IT" sz="3200" u="none" strike="noStrike" cap="none" spc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it-IT" sz="3200" u="none" strike="noStrike" cap="none" spc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it-IT" sz="3200" u="none" strike="noStrike" cap="none" spc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min</m:t>
                          </m:r>
                        </m:sub>
                      </m:sSub>
                    </m:oMath>
                  </m:oMathPara>
                </a14:m>
              </mc:Choice>
              <mc:Fallback/>
            </mc:AlternateContent>
            <a:r>
              <a:rPr lang="it-IT"/>
              <a:t>:</a:t>
            </a:r>
            <a:endParaRPr lang="it-IT"/>
          </a:p>
          <a:p>
            <a:pPr lvl="1">
              <a:buFont typeface="Arial"/>
              <a:buChar char="•"/>
              <a:defRPr/>
            </a:pPr>
            <a:r>
              <a:rPr lang="it-IT"/>
              <a:t>Calcolo dello stimatore MLE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acc>
                        <m:accPr>
                          <m:chr m:val="̃"/>
                          <m:ctrlPr>
                            <a:rPr lang="it-IT" sz="2800" u="none" strike="noStrike" cap="none" spc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it-IT" sz="2800" u="none" strike="noStrike" cap="none" spc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α</m:t>
                          </m:r>
                        </m:e>
                      </m:acc>
                      <m:r>
                        <m:rPr>
                          <m:sty m:val="p"/>
                        </m:rPr>
                        <a:rPr lang="it-IT" sz="2800" u="none" strike="noStrike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=1+n</m:t>
                      </m:r>
                      <m:sSup>
                        <m:sSupPr>
                          <m:ctrlPr>
                            <a:rPr lang="it-IT" sz="2800" u="none" strike="noStrike" cap="none" spc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it-IT" sz="2800" u="none" strike="noStrike" cap="none" spc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grow m:val="off"/>
                                  <m:limLoc m:val="undOvr"/>
                                  <m:ctrlPr>
                                    <a:rPr lang="it-IT" sz="2800" b="0" i="1" u="none" strike="noStrike" cap="none" spc="0"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sty m:val="i"/>
                                    </m:rPr>
                                    <a:rPr lang="it-IT" sz="2800" u="none" strike="noStrike" cap="none" spc="0"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i=1</m:t>
                                  </m:r>
                                </m:sub>
                                <m:sup>
                                  <m:r>
                                    <m:rPr>
                                      <m:sty m:val="i"/>
                                    </m:rPr>
                                    <a:rPr lang="it-IT" sz="2800" u="none" strike="noStrike" cap="none" spc="0"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n</m:t>
                                  </m:r>
                                </m:sup>
                                <m:e>
                                  <m:r>
                                    <m:rPr>
                                      <m:sty m:val="i"/>
                                    </m:rPr>
                                    <a:rPr lang="it-IT" sz="2800" u="none" strike="noStrike" cap="none" spc="0"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ln</m:t>
                                  </m:r>
                                  <m:f>
                                    <m:fPr>
                                      <m:ctrlPr>
                                        <a:rPr lang="it-IT" sz="2800" u="none" strike="noStrike" cap="none" spc="0"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</a:schemeClr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fPr>
                                    <m:num>
                                      <m:sSub>
                                        <m:sSubPr>
                                          <m:ctrlPr>
                                            <a:rPr lang="it-IT" sz="2800" u="none" strike="noStrike" cap="none" spc="0"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</a:schemeClr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i"/>
                                            </m:rPr>
                                            <a:rPr lang="it-IT" sz="2800" u="none" strike="noStrike" cap="none" spc="0"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</a:schemeClr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x</m:t>
                                          </m:r>
                                        </m:e>
                                        <m:sub>
                                          <m:r>
                                            <m:rPr>
                                              <m:sty m:val="i"/>
                                            </m:rPr>
                                            <a:rPr lang="it-IT" sz="2800" u="none" strike="noStrike" cap="none" spc="0"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</a:schemeClr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i</m:t>
                                          </m:r>
                                        </m:sub>
                                      </m:sSub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it-IT" sz="2800" u="none" strike="noStrike" cap="none" spc="0"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</a:schemeClr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i"/>
                                            </m:rPr>
                                            <a:rPr lang="it-IT" sz="2800" u="none" strike="noStrike" cap="none" spc="0"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</a:schemeClr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x</m:t>
                                          </m:r>
                                        </m:e>
                                        <m:sub>
                                          <m:r>
                                            <m:rPr>
                                              <m:sty m:val="i"/>
                                            </m:rPr>
                                            <a:rPr lang="it-IT" sz="2800" u="none" strike="noStrike" cap="none" spc="0"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</a:schemeClr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min</m:t>
                                          </m:r>
                                        </m:sub>
                                      </m:sSub>
                                      <m:r>
                                        <m:rPr>
                                          <m:sty m:val="i"/>
                                        </m:rPr>
                                        <a:rPr lang="it-IT" sz="2800" u="none" strike="noStrike" cap="none" spc="0"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</a:schemeClr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-</m:t>
                                      </m:r>
                                      <m:f>
                                        <m:fPr>
                                          <m:type m:val="skw"/>
                                          <m:ctrlPr>
                                            <a:rPr lang="it-IT" sz="2800" u="none" strike="noStrike" cap="none" spc="0"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</a:schemeClr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m:rPr>
                                              <m:sty m:val="i"/>
                                            </m:rPr>
                                            <a:rPr lang="it-IT" sz="2800" u="none" strike="noStrike" cap="none" spc="0"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</a:schemeClr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1</m:t>
                                          </m:r>
                                        </m:num>
                                        <m:den>
                                          <m:r>
                                            <m:rPr>
                                              <m:sty m:val="i"/>
                                            </m:rPr>
                                            <a:rPr lang="it-IT" sz="2800" u="none" strike="noStrike" cap="none" spc="0"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</a:schemeClr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2</m:t>
                                          </m:r>
                                        </m:den>
                                      </m:f>
                                    </m:den>
                                  </m:f>
                                </m:e>
                              </m:nary>
                            </m:e>
                          </m:d>
                        </m:e>
                        <m:sup>
                          <m:r>
                            <m:rPr>
                              <m:sty m:val="p"/>
                            </m:rPr>
                            <a:rPr lang="it-IT" sz="2800" u="none" strike="noStrike" cap="none" spc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-1</m:t>
                          </m:r>
                        </m:sup>
                      </m:sSup>
                    </m:oMath>
                  </m:oMathPara>
                </a14:m>
              </mc:Choice>
              <mc:Fallback/>
            </mc:AlternateContent>
            <a:endParaRPr lang="it-IT"/>
          </a:p>
          <a:p>
            <a:pPr lvl="1">
              <a:buFont typeface="Arial"/>
              <a:buChar char="•"/>
              <a:defRPr/>
            </a:pPr>
            <a:r>
              <a:rPr lang="it-IT"/>
              <a:t>Calcolo della distanza di Kolmogorov-Smirnov</a:t>
            </a:r>
            <a:endParaRPr lang="it-IT"/>
          </a:p>
          <a:p>
            <a:pPr marL="857250" lvl="2" indent="0">
              <a:buFont typeface="Arial"/>
              <a:buNone/>
              <a:defRPr/>
            </a:pPr>
            <a:r>
              <a:rPr lang="it-IT"/>
              <a:t>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sty m:val="p"/>
                        </m:rPr>
                        <a:rPr lang="it-IT" sz="2800" u="none" strike="noStrike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D=</m:t>
                      </m:r>
                      <m:sSub>
                        <m:sSubPr>
                          <m:ctrlPr>
                            <a:rPr lang="it-IT" sz="2800" u="none" strike="noStrike" cap="none" spc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it-IT" sz="2800" u="none" strike="noStrike" cap="none" spc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max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it-IT" sz="2800" u="none" strike="noStrike" cap="none" spc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x≥</m:t>
                          </m:r>
                          <m:sSub>
                            <m:sSubPr>
                              <m:ctrlPr>
                                <a:rPr lang="it-IT" sz="2800" u="none" strike="noStrike" cap="none" spc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it-IT" sz="2800" u="none" strike="noStrike" cap="none" spc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it-IT" sz="2800" u="none" strike="noStrike" cap="none" spc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min</m:t>
                              </m:r>
                            </m:sub>
                          </m:sSub>
                        </m:sub>
                      </m:sSub>
                      <m:d>
                        <m:dPr>
                          <m:begChr m:val="|"/>
                          <m:endChr m:val="|"/>
                          <m:ctrlPr>
                            <a:rPr lang="it-IT" sz="2800" u="none" strike="noStrike" cap="none" spc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it-IT" sz="2800" u="none" strike="noStrike" cap="none" spc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S</m:t>
                          </m:r>
                          <m:d>
                            <m:dPr>
                              <m:begChr m:val="("/>
                              <m:endChr m:val=")"/>
                              <m:ctrlPr>
                                <a:rPr lang="it-IT" sz="2800" u="none" strike="noStrike" cap="none" spc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it-IT" sz="2800" u="none" strike="noStrike" cap="none" spc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</m:e>
                          </m:d>
                          <m:r>
                            <m:rPr>
                              <m:sty m:val="p"/>
                            </m:rPr>
                            <a:rPr lang="it-IT" sz="2800" u="none" strike="noStrike" cap="none" spc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-P</m:t>
                          </m:r>
                          <m:d>
                            <m:dPr>
                              <m:begChr m:val="("/>
                              <m:endChr m:val=")"/>
                              <m:ctrlPr>
                                <a:rPr lang="it-IT" sz="2800" u="none" strike="noStrike" cap="none" spc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it-IT" sz="2800" u="none" strike="noStrike" cap="none" spc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</m:e>
                          </m:d>
                        </m:e>
                      </m:d>
                    </m:oMath>
                  </m:oMathPara>
                </a14:m>
              </mc:Choice>
              <mc:Fallback/>
            </mc:AlternateContent>
            <a:r>
              <a:rPr lang="it-IT"/>
              <a:t> </a:t>
            </a:r>
            <a:endParaRPr/>
          </a:p>
          <a:p>
            <a:pPr marL="857250" lvl="2" indent="0">
              <a:buFont typeface="Arial"/>
              <a:buNone/>
              <a:defRPr/>
            </a:pPr>
            <a:endParaRPr lang="it-IT"/>
          </a:p>
          <a:p>
            <a:pPr marL="0" lvl="0" indent="0">
              <a:buFont typeface="Arial"/>
              <a:buNone/>
              <a:defRPr/>
            </a:pPr>
            <a:r>
              <a:rPr lang="it-IT"/>
              <a:t>Infine viene scelto l’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lang="it-IT" sz="3200" u="none" strike="noStrike" cap="none" spc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it-IT" sz="3200" u="none" strike="noStrike" cap="none" spc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it-IT" sz="3200" u="none" strike="noStrike" cap="none" spc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min</m:t>
                          </m:r>
                        </m:sub>
                      </m:sSub>
                    </m:oMath>
                  </m:oMathPara>
                </a14:m>
              </mc:Choice>
              <mc:Fallback/>
            </mc:AlternateContent>
            <a:r>
              <a:rPr lang="it-IT"/>
              <a:t> che minimizza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sty m:val="p"/>
                        </m:rPr>
                        <a:rPr lang="it-IT" sz="3200" u="none" strike="noStrike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D</m:t>
                      </m:r>
                    </m:oMath>
                  </m:oMathPara>
                </a14:m>
              </mc:Choice>
              <mc:Fallback/>
            </mc:AlternateContent>
            <a:r>
              <a:rPr lang="it-IT"/>
              <a:t> </a:t>
            </a:r>
            <a:endParaRPr lang="it-IT"/>
          </a:p>
          <a:p>
            <a:pPr marL="0" lvl="0" indent="0">
              <a:buFont typeface="Arial"/>
              <a:buNone/>
              <a:defRPr/>
            </a:pPr>
            <a:endParaRPr lang="it-IT"/>
          </a:p>
          <a:p>
            <a:pPr marL="0" lvl="0" indent="0">
              <a:buFont typeface="Arial"/>
              <a:buNone/>
              <a:defRPr/>
            </a:pPr>
            <a:r>
              <a:rPr lang="it-IT"/>
              <a:t>Viene poi calcolata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lang="it-IT" sz="2900" u="none" strike="noStrike" cap="none" spc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it-IT" sz="2900" u="none" strike="noStrike" cap="none" spc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p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it-IT" sz="2900" u="none" strike="noStrike" cap="none" spc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tail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it-IT" sz="2900" u="none" strike="noStrike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ctrlPr>
                            <a:rPr lang="it-IT" sz="2600" u="none" strike="noStrike" cap="none" spc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d>
                            <m:dPr>
                              <m:begChr m:val="|"/>
                              <m:endChr m:val="|"/>
                              <m:ctrlPr>
                                <a:rPr lang="it-IT" sz="2600" u="none" strike="noStrike" cap="none" spc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i"/>
                                </m:rPr>
                                <a:rPr lang="it-IT" sz="2600" u="none" strike="noStrike" cap="none" spc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 : x≥</m:t>
                              </m:r>
                              <m:sSub>
                                <m:sSubPr>
                                  <m:ctrlPr>
                                    <a:rPr lang="it-IT" sz="2600" u="none" strike="noStrike" cap="none" spc="0"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i"/>
                                    </m:rPr>
                                    <a:rPr lang="it-IT" sz="2600" u="none" strike="noStrike" cap="none" spc="0"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</m:e>
                                <m:sub>
                                  <m:r>
                                    <m:rPr>
                                      <m:sty m:val="i"/>
                                    </m:rPr>
                                    <a:rPr lang="it-IT" sz="2600" u="none" strike="noStrike" cap="none" spc="0"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min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r>
                            <m:rPr>
                              <m:sty m:val="i"/>
                            </m:rPr>
                            <a:rPr lang="it-IT" sz="2600" u="none" strike="noStrike" cap="none" spc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Numero totale dei canali</m:t>
                          </m:r>
                        </m:den>
                      </m:f>
                    </m:oMath>
                  </m:oMathPara>
                </a14:m>
              </mc:Choice>
              <mc:Fallback/>
            </mc:AlternateContent>
            <a:endParaRPr lang="it-IT"/>
          </a:p>
          <a:p>
            <a:pPr marL="914400" lvl="2" indent="0">
              <a:buFont typeface="Arial"/>
              <a:buNone/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3745114" name="Title 1"/>
          <p:cNvSpPr>
            <a:spLocks noGrp="1"/>
          </p:cNvSpPr>
          <p:nvPr>
            <p:ph type="title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 fontScale="95000" lnSpcReduction="1000"/>
          </a:bodyPr>
          <a:lstStyle/>
          <a:p>
            <a:pPr algn="l">
              <a:defRPr/>
            </a:pPr>
            <a:r>
              <a:rPr lang="it-IT" sz="4400" b="0" i="0" u="none" strike="noStrike" cap="none" spc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cs typeface="+mj-cs"/>
              </a:rPr>
              <a:t>Secondo modello - Congiunta: </a:t>
            </a:r>
            <a:r>
              <a:rPr lang="it-IT" sz="3600" b="0" i="0" u="none" strike="noStrike" cap="none" spc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cs typeface="+mj-cs"/>
              </a:rPr>
              <a:t>Massa</a:t>
            </a:r>
            <a:endParaRPr sz="4400"/>
          </a:p>
        </p:txBody>
      </p:sp>
      <p:sp>
        <p:nvSpPr>
          <p:cNvPr id="1912484949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marL="0" indent="0">
              <a:buFont typeface="Arial"/>
              <a:buNone/>
              <a:defRPr/>
            </a:pPr>
            <a:r>
              <a:rPr lang="it-IT"/>
              <a:t>Per quanto riguarda i parametri della LogNormal questi vengono calcolati mediante i rispettivi MLE:</a:t>
            </a:r>
            <a:endParaRPr lang="it-IT"/>
          </a:p>
          <a:p>
            <a:pPr marL="0" indent="0">
              <a:buFont typeface="Arial"/>
              <a:buNone/>
              <a:defRPr/>
            </a:pPr>
            <a:endParaRPr lang="it-IT"/>
          </a:p>
          <a:p>
            <a:pPr lvl="1">
              <a:buFont typeface="Arial"/>
              <a:buChar char="•"/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acc>
                        <m:accPr>
                          <m:chr m:val="̃"/>
                          <m:ctrlPr>
                            <a:rPr lang="it-IT" sz="2800" u="none" strike="noStrike" cap="none" spc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it-IT" sz="2800" u="none" strike="noStrike" cap="none" spc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μ</m:t>
                          </m:r>
                        </m:e>
                      </m:acc>
                      <m:r>
                        <m:rPr>
                          <m:sty m:val="p"/>
                        </m:rPr>
                        <a:rPr lang="it-IT" sz="2800" u="none" strike="noStrike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ctrlPr>
                            <a:rPr lang="it-IT" sz="2800" u="none" strike="noStrike" cap="none" spc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m:rPr>
                              <m:sty m:val="i"/>
                            </m:rPr>
                            <a:rPr lang="it-IT" sz="2800" u="none" strike="noStrike" cap="none" spc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m:rPr>
                              <m:sty m:val="i"/>
                            </m:rPr>
                            <a:rPr lang="it-IT" sz="2800" u="none" strike="noStrike" cap="none" spc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den>
                      </m:f>
                      <m:nary>
                        <m:naryPr>
                          <m:chr m:val="∑"/>
                          <m:grow m:val="off"/>
                          <m:limLoc m:val="undOvr"/>
                          <m:ctrlPr>
                            <a:rPr lang="it-IT" sz="2800" b="0" i="1" u="none" strike="noStrike" cap="none" spc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r>
                            <m:rPr>
                              <m:sty m:val="i"/>
                            </m:rPr>
                            <a:rPr lang="it-IT" sz="2800" u="none" strike="noStrike" cap="none" spc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i=1</m:t>
                          </m:r>
                        </m:sub>
                        <m:sup>
                          <m:r>
                            <m:rPr>
                              <m:sty m:val="i"/>
                            </m:rPr>
                            <a:rPr lang="it-IT" sz="2800" u="none" strike="noStrike" cap="none" spc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sup>
                        <m:e>
                          <m:r>
                            <m:rPr>
                              <m:sty m:val="i"/>
                            </m:rPr>
                            <a:rPr lang="it-IT" sz="2800" u="none" strike="noStrike" cap="none" spc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ln</m:t>
                          </m:r>
                          <m:d>
                            <m:dPr>
                              <m:begChr m:val="("/>
                              <m:endChr m:val=")"/>
                              <m:ctrlPr>
                                <a:rPr lang="it-IT" sz="2800" u="none" strike="noStrike" cap="none" spc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it-IT" sz="2800" u="none" strike="noStrike" cap="none" spc="0"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i"/>
                                    </m:rPr>
                                    <a:rPr lang="it-IT" sz="2800" u="none" strike="noStrike" cap="none" spc="0"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</m:e>
                                <m:sub>
                                  <m:r>
                                    <m:rPr>
                                      <m:sty m:val="i"/>
                                    </m:rPr>
                                    <a:rPr lang="it-IT" sz="2800" u="none" strike="noStrike" cap="none" spc="0"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i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</mc:Choice>
              <mc:Fallback/>
            </mc:AlternateContent>
            <a:endParaRPr lang="it-IT"/>
          </a:p>
          <a:p>
            <a:pPr lvl="1">
              <a:buFont typeface="Arial"/>
              <a:buChar char="•"/>
              <a:defRPr/>
            </a:pPr>
            <a:endParaRPr lang="it-IT"/>
          </a:p>
          <a:p>
            <a:pPr lvl="1">
              <a:buFont typeface="Arial"/>
              <a:buChar char="•"/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acc>
                        <m:accPr>
                          <m:chr m:val="̃"/>
                          <m:ctrlPr>
                            <a:rPr lang="it-IT" sz="2800" u="none" strike="noStrike" cap="none" spc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accPr>
                        <m:e>
                          <m:sSup>
                            <m:sSupPr>
                              <m:ctrlPr>
                                <a:rPr lang="it-IT" sz="2800" u="none" strike="noStrike" cap="none" spc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it-IT" sz="2800" u="none" strike="noStrike" cap="none" spc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σ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it-IT" sz="2800" u="none" strike="noStrike" cap="none" spc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p>
                          </m:sSup>
                        </m:e>
                      </m:acc>
                      <m:r>
                        <m:rPr>
                          <m:sty m:val="p"/>
                        </m:rPr>
                        <a:rPr lang="it-IT" sz="2800" u="none" strike="noStrike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ctrlPr>
                            <a:rPr lang="it-IT" sz="2800" u="none" strike="noStrike" cap="none" spc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m:rPr>
                              <m:sty m:val="i"/>
                            </m:rPr>
                            <a:rPr lang="it-IT" sz="2800" u="none" strike="noStrike" cap="none" spc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m:rPr>
                              <m:sty m:val="i"/>
                            </m:rPr>
                            <a:rPr lang="it-IT" sz="2800" u="none" strike="noStrike" cap="none" spc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den>
                      </m:f>
                      <m:sSup>
                        <m:sSupPr>
                          <m:ctrlPr>
                            <a:rPr lang="it-IT" sz="2800" u="none" strike="noStrike" cap="none" spc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pPr>
                        <m:e>
                          <m:nary>
                            <m:naryPr>
                              <m:chr m:val="∑"/>
                              <m:grow m:val="off"/>
                              <m:limLoc m:val="undOvr"/>
                              <m:ctrlPr>
                                <a:rPr lang="it-IT" sz="2800" b="0" i="1" u="none" strike="noStrike" cap="none" spc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naryPr>
                            <m:sub>
                              <m:r>
                                <m:rPr>
                                  <m:sty m:val="i"/>
                                </m:rPr>
                                <a:rPr lang="it-IT" sz="2800" u="none" strike="noStrike" cap="none" spc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i=1</m:t>
                              </m:r>
                            </m:sub>
                            <m:sup>
                              <m:r>
                                <m:rPr>
                                  <m:sty m:val="i"/>
                                </m:rPr>
                                <a:rPr lang="it-IT" sz="2800" u="none" strike="noStrike" cap="none" spc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n</m:t>
                              </m:r>
                            </m:sup>
                            <m:e>
                              <m:d>
                                <m:dPr>
                                  <m:begChr m:val="("/>
                                  <m:endChr m:val=")"/>
                                  <m:ctrlPr>
                                    <a:rPr lang="it-IT" sz="2800" u="none" strike="noStrike" cap="none" spc="0"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i"/>
                                    </m:rPr>
                                    <a:rPr lang="it-IT" sz="2800" u="none" strike="noStrike" cap="none" spc="0"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ln</m:t>
                                  </m:r>
                                  <m:d>
                                    <m:dPr>
                                      <m:begChr m:val="("/>
                                      <m:endChr m:val=")"/>
                                      <m:ctrlPr>
                                        <a:rPr lang="it-IT" sz="2800" u="none" strike="noStrike" cap="none" spc="0"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</a:schemeClr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it-IT" sz="2800" u="none" strike="noStrike" cap="none" spc="0"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</a:schemeClr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i"/>
                                            </m:rPr>
                                            <a:rPr lang="it-IT" sz="2800" u="none" strike="noStrike" cap="none" spc="0"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</a:schemeClr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x</m:t>
                                          </m:r>
                                        </m:e>
                                        <m:sub>
                                          <m:r>
                                            <m:rPr>
                                              <m:sty m:val="i"/>
                                            </m:rPr>
                                            <a:rPr lang="it-IT" sz="2800" u="none" strike="noStrike" cap="none" spc="0"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</a:schemeClr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i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m:rPr>
                                      <m:sty m:val="i"/>
                                    </m:rPr>
                                    <a:rPr lang="it-IT" sz="2800" u="none" strike="noStrike" cap="none" spc="0"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-</m:t>
                                  </m:r>
                                  <m:acc>
                                    <m:accPr>
                                      <m:chr m:val="̃"/>
                                      <m:ctrlPr>
                                        <a:rPr lang="it-IT" sz="2800" u="none" strike="noStrike" cap="none" spc="0"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</a:schemeClr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accPr>
                                    <m:e>
                                      <m:r>
                                        <m:rPr>
                                          <m:sty m:val="i"/>
                                        </m:rPr>
                                        <a:rPr lang="it-IT" sz="2800" u="none" strike="noStrike" cap="none" spc="0"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</a:schemeClr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μ</m:t>
                                      </m:r>
                                    </m:e>
                                  </m:acc>
                                </m:e>
                              </m:d>
                            </m:e>
                          </m:nary>
                        </m:e>
                        <m:sup>
                          <m:r>
                            <m:rPr>
                              <m:sty m:val="i"/>
                            </m:rPr>
                            <a:rPr lang="it-IT" sz="2800" u="none" strike="noStrike" cap="none" spc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</mc:Choice>
              <mc:Fallback/>
            </mc:AlternateContent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4256496" name="Title 1"/>
          <p:cNvSpPr>
            <a:spLocks noGrp="1"/>
          </p:cNvSpPr>
          <p:nvPr>
            <p:ph type="title"/>
          </p:nvPr>
        </p:nvSpPr>
        <p:spPr bwMode="auto">
          <a:xfrm>
            <a:off x="609599" y="274638"/>
            <a:ext cx="10972800" cy="1143000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/>
          </a:bodyPr>
          <a:lstStyle/>
          <a:p>
            <a:pPr algn="l">
              <a:defRPr/>
            </a:pPr>
            <a:r>
              <a:rPr lang="it-IT" sz="4400"/>
              <a:t>Secondo modello - </a:t>
            </a:r>
            <a:r>
              <a:rPr lang="it-IT" sz="4400"/>
              <a:t>Congiunta</a:t>
            </a:r>
            <a:r>
              <a:rPr lang="it-IT"/>
              <a:t>: </a:t>
            </a:r>
            <a:r>
              <a:rPr lang="it-IT" sz="3600"/>
              <a:t>Gradi nei nodi</a:t>
            </a:r>
            <a:endParaRPr/>
          </a:p>
        </p:txBody>
      </p:sp>
      <p:pic>
        <p:nvPicPr>
          <p:cNvPr id="1930290011" name=""/>
          <p:cNvPicPr>
            <a:picLocks noChangeAspect="1"/>
          </p:cNvPicPr>
          <p:nvPr>
            <p:ph idx="1"/>
          </p:nvPr>
        </p:nvPicPr>
        <p:blipFill rotWithShape="1">
          <a:blip r:embed="rId3"/>
          <a:stretch/>
        </p:blipFill>
        <p:spPr bwMode="auto">
          <a:xfrm rot="0" flipH="0" flipV="0">
            <a:off x="756724" y="1676399"/>
            <a:ext cx="4843922" cy="3829050"/>
          </a:xfrm>
          <a:prstGeom prst="rect">
            <a:avLst/>
          </a:prstGeom>
        </p:spPr>
      </p:pic>
      <p:sp>
        <p:nvSpPr>
          <p:cNvPr id="1368129844" name=""/>
          <p:cNvSpPr txBox="1"/>
          <p:nvPr/>
        </p:nvSpPr>
        <p:spPr bwMode="auto">
          <a:xfrm rot="0" flipH="0" flipV="0">
            <a:off x="918598" y="5486400"/>
            <a:ext cx="4239900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lang="it-IT"/>
              <a:t>Distribuzione nella LN</a:t>
            </a:r>
            <a:endParaRPr/>
          </a:p>
        </p:txBody>
      </p:sp>
      <p:sp>
        <p:nvSpPr>
          <p:cNvPr id="796598810" name=""/>
          <p:cNvSpPr txBox="1"/>
          <p:nvPr/>
        </p:nvSpPr>
        <p:spPr bwMode="auto">
          <a:xfrm rot="0" flipH="0" flipV="0">
            <a:off x="7085450" y="5486400"/>
            <a:ext cx="4248180" cy="666085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lang="it-IT"/>
              <a:t>Distribuzione nel grafo generato</a:t>
            </a:r>
            <a:endParaRPr lang="it-IT"/>
          </a:p>
          <a:p>
            <a:pPr algn="ctr">
              <a:defRPr/>
            </a:pPr>
            <a:r>
              <a:rPr lang="it-IT" sz="18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sty m:val="p"/>
                        </m:rPr>
                        <a:rPr lang="it-IT" sz="1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β=3</m:t>
                      </m:r>
                    </m:oMath>
                  </m:oMathPara>
                </a14:m>
              </mc:Choice>
              <mc:Fallback/>
            </mc:AlternateContent>
            <a:endParaRPr/>
          </a:p>
        </p:txBody>
      </p:sp>
      <p:pic>
        <p:nvPicPr>
          <p:cNvPr id="1342358181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6488988" y="1676399"/>
            <a:ext cx="4843922" cy="38290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9223253" name="Title 1"/>
          <p:cNvSpPr>
            <a:spLocks noGrp="1"/>
          </p:cNvSpPr>
          <p:nvPr>
            <p:ph type="title"/>
          </p:nvPr>
        </p:nvSpPr>
        <p:spPr bwMode="auto">
          <a:xfrm>
            <a:off x="609598" y="274637"/>
            <a:ext cx="10972800" cy="1143000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/>
          </a:bodyPr>
          <a:lstStyle/>
          <a:p>
            <a:pPr algn="l">
              <a:defRPr/>
            </a:pPr>
            <a:r>
              <a:rPr lang="it-IT"/>
              <a:t>Secondo modello - Congiunta: </a:t>
            </a:r>
            <a:r>
              <a:rPr lang="it-IT" sz="3600"/>
              <a:t>Capacità</a:t>
            </a:r>
            <a:endParaRPr/>
          </a:p>
        </p:txBody>
      </p:sp>
      <p:pic>
        <p:nvPicPr>
          <p:cNvPr id="2090594677" name=""/>
          <p:cNvPicPr>
            <a:picLocks noChangeAspect="1"/>
          </p:cNvPicPr>
          <p:nvPr>
            <p:ph idx="1"/>
          </p:nvPr>
        </p:nvPicPr>
        <p:blipFill rotWithShape="1">
          <a:blip r:embed="rId3"/>
          <a:stretch/>
        </p:blipFill>
        <p:spPr bwMode="auto">
          <a:xfrm rot="0" flipH="0" flipV="0">
            <a:off x="766198" y="1639855"/>
            <a:ext cx="4914900" cy="3846544"/>
          </a:xfrm>
          <a:prstGeom prst="rect">
            <a:avLst/>
          </a:prstGeom>
        </p:spPr>
      </p:pic>
      <p:sp>
        <p:nvSpPr>
          <p:cNvPr id="994889822" name=""/>
          <p:cNvSpPr txBox="1"/>
          <p:nvPr/>
        </p:nvSpPr>
        <p:spPr bwMode="auto">
          <a:xfrm rot="0" flipH="0" flipV="0">
            <a:off x="918598" y="5486400"/>
            <a:ext cx="4240260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lang="it-IT"/>
              <a:t>Distribuzione nella LN</a:t>
            </a:r>
            <a:endParaRPr/>
          </a:p>
        </p:txBody>
      </p:sp>
      <p:sp>
        <p:nvSpPr>
          <p:cNvPr id="636313261" name=""/>
          <p:cNvSpPr txBox="1"/>
          <p:nvPr/>
        </p:nvSpPr>
        <p:spPr bwMode="auto">
          <a:xfrm rot="0" flipH="0" flipV="0">
            <a:off x="7085450" y="5486400"/>
            <a:ext cx="4255020" cy="66297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lang="it-IT"/>
              <a:t>Distribuzione nel grafo generato</a:t>
            </a:r>
            <a:endParaRPr lang="it-IT"/>
          </a:p>
          <a:p>
            <a:pPr algn="ctr">
              <a:defRPr/>
            </a:pPr>
            <a:r>
              <a:rPr lang="it-IT"/>
              <a:t>con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sty m:val="p"/>
                        </m:rPr>
                        <a:rPr lang="it-IT" sz="1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β=3</m:t>
                      </m:r>
                    </m:oMath>
                  </m:oMathPara>
                </a14:m>
              </mc:Choice>
              <mc:Fallback/>
            </mc:AlternateContent>
            <a:endParaRPr/>
          </a:p>
        </p:txBody>
      </p:sp>
      <p:pic>
        <p:nvPicPr>
          <p:cNvPr id="1681473108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6535413" y="1607738"/>
            <a:ext cx="4955936" cy="387866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197763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 algn="l">
              <a:defRPr/>
            </a:pPr>
            <a:r>
              <a:rPr lang="it-IT"/>
              <a:t>Secondo modello - Congiunta: </a:t>
            </a:r>
            <a:r>
              <a:rPr lang="it-IT" sz="3600"/>
              <a:t>Assortatività</a:t>
            </a:r>
            <a:endParaRPr sz="3600"/>
          </a:p>
        </p:txBody>
      </p:sp>
      <p:pic>
        <p:nvPicPr>
          <p:cNvPr id="1463170516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2371009" y="1570038"/>
            <a:ext cx="7449979" cy="4697411"/>
          </a:xfrm>
          <a:prstGeom prst="rect">
            <a:avLst/>
          </a:prstGeom>
        </p:spPr>
      </p:pic>
      <p:sp>
        <p:nvSpPr>
          <p:cNvPr id="1558617825" name=""/>
          <p:cNvSpPr txBox="1"/>
          <p:nvPr/>
        </p:nvSpPr>
        <p:spPr bwMode="auto">
          <a:xfrm rot="0" flipH="0" flipV="0">
            <a:off x="2566296" y="6099661"/>
            <a:ext cx="7306125" cy="38864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lang="it-IT"/>
              <a:t>Assortatività della Ln =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sty m:val="p"/>
                        </m:rPr>
                        <a:rPr lang="it-IT" sz="1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-0.13</m:t>
                      </m:r>
                    </m:oMath>
                  </m:oMathPara>
                </a14:m>
              </mc:Choice>
              <mc:Fallback/>
            </mc:AlternateContent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2151430" name="Title 1"/>
          <p:cNvSpPr>
            <a:spLocks noGrp="1"/>
          </p:cNvSpPr>
          <p:nvPr>
            <p:ph type="title"/>
          </p:nvPr>
        </p:nvSpPr>
        <p:spPr bwMode="auto">
          <a:xfrm>
            <a:off x="609599" y="274638"/>
            <a:ext cx="10972800" cy="1143000"/>
          </a:xfrm>
        </p:spPr>
        <p:txBody>
          <a:bodyPr/>
          <a:lstStyle/>
          <a:p>
            <a:pPr algn="l">
              <a:defRPr/>
            </a:pPr>
            <a:r>
              <a:rPr lang="it-IT"/>
              <a:t>Secondo modello - Congiunta: </a:t>
            </a:r>
            <a:r>
              <a:rPr lang="it-IT" sz="3600"/>
              <a:t>Metriche</a:t>
            </a:r>
            <a:endParaRPr sz="3600"/>
          </a:p>
        </p:txBody>
      </p:sp>
      <p:pic>
        <p:nvPicPr>
          <p:cNvPr id="888753292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780840" y="1907849"/>
            <a:ext cx="5205059" cy="3357970"/>
          </a:xfrm>
          <a:prstGeom prst="rect">
            <a:avLst/>
          </a:prstGeom>
        </p:spPr>
      </p:pic>
      <p:pic>
        <p:nvPicPr>
          <p:cNvPr id="2009270809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6358499" y="1895694"/>
            <a:ext cx="5223899" cy="3370125"/>
          </a:xfrm>
          <a:prstGeom prst="rect">
            <a:avLst/>
          </a:prstGeom>
        </p:spPr>
      </p:pic>
      <p:sp>
        <p:nvSpPr>
          <p:cNvPr id="1224648248" name=""/>
          <p:cNvSpPr txBox="1"/>
          <p:nvPr/>
        </p:nvSpPr>
        <p:spPr bwMode="auto">
          <a:xfrm rot="0" flipH="0" flipV="0">
            <a:off x="7057323" y="5476873"/>
            <a:ext cx="3673866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lang="it-IT"/>
              <a:t>Grado mediano della LN = 2</a:t>
            </a:r>
            <a:endParaRPr/>
          </a:p>
        </p:txBody>
      </p:sp>
      <p:sp>
        <p:nvSpPr>
          <p:cNvPr id="986672199" name=""/>
          <p:cNvSpPr txBox="1"/>
          <p:nvPr/>
        </p:nvSpPr>
        <p:spPr bwMode="auto">
          <a:xfrm rot="0" flipH="0" flipV="0">
            <a:off x="2255442" y="5476873"/>
            <a:ext cx="2675765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lang="it-IT"/>
              <a:t>Diametro della LN = 14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Turtl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lassic 2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Standard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ONLYOFFICE/9.4.0.129</Application>
  <PresentationFormat>On-screen Show (4:3)</PresentationFormat>
  <Paragraphs>0</Paragraphs>
  <Slides>26</Slides>
  <Notes>26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7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8</cp:revision>
  <dcterms:modified xsi:type="dcterms:W3CDTF">2026-10-01T07:56:49Z</dcterms:modified>
</cp:coreProperties>
</file>